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9"/>
  </p:normalViewPr>
  <p:slideViewPr>
    <p:cSldViewPr snapToGrid="0">
      <p:cViewPr varScale="1">
        <p:scale>
          <a:sx n="106" d="100"/>
          <a:sy n="106" d="100"/>
        </p:scale>
        <p:origin x="6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on the product promise: ChatXPT adds structured viewer agency to streams without replacing Twitch or OBS.</a:t>
            </a:r>
          </a:p>
          <a:p>
            <a:endParaRPr/>
          </a:p>
          <a:p>
            <a:r>
              <a:t>[Sources]</a:t>
            </a:r>
          </a:p>
          <a:p>
            <a:r>
              <a:t>- local: README.md</a:t>
            </a:r>
          </a:p>
          <a:p>
            <a:r>
              <a:t>- local: docs/PRODUCT_BRIEF.md</a:t>
            </a:r>
          </a:p>
          <a:p>
            <a:r>
              <a:t>- local visual: twitch-upload-assets/ui-snapshots/studio-viewport-generated.png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figures as evidence of pressure and concentration, not as a universal Twitch statistic. The product opportunity is repeatable participation for emerging creators.</a:t>
            </a:r>
          </a:p>
          <a:p>
            <a:endParaRPr/>
          </a:p>
          <a:p>
            <a:r>
              <a:t>[Sources]</a:t>
            </a:r>
          </a:p>
          <a:p>
            <a:r>
              <a:t>- https://doi.org/10.31235/osf.io/gef2q_v1</a:t>
            </a:r>
          </a:p>
          <a:p>
            <a:r>
              <a:t>- local: docs/research/PRODUCT-VALIDATION.md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the problem plainly: existing chat is expressive but operationally weak. The streamer carries the cost of turning it into content.</a:t>
            </a:r>
          </a:p>
          <a:p>
            <a:endParaRPr/>
          </a:p>
          <a:p>
            <a:r>
              <a:t>[Sources]</a:t>
            </a:r>
          </a:p>
          <a:p>
            <a:r>
              <a:t>- local: docs/PRODUCT_BRIEF.md</a:t>
            </a:r>
          </a:p>
          <a:p>
            <a:r>
              <a:t>- local: docs/research/PRODUCT-VALIDATION.md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left to right. ChatXPT does not add another manual poll; it automates context assembly and option creation while keeping deterministic safety and streamer authority.</a:t>
            </a:r>
          </a:p>
          <a:p>
            <a:endParaRPr/>
          </a:p>
          <a:p>
            <a:r>
              <a:t>[Sources]</a:t>
            </a:r>
          </a:p>
          <a:p>
            <a:r>
              <a:t>- local: docs/PRODUCT_BRIEF.md</a:t>
            </a:r>
          </a:p>
          <a:p>
            <a:r>
              <a:t>- local: docs/ARCHITECTURE.md</a:t>
            </a:r>
          </a:p>
          <a:p>
            <a:r>
              <a:t>- local: src/core/</a:t>
            </a:r>
          </a:p>
          <a:p>
            <a:r>
              <a:t>- local: src/ai/</a:t>
            </a:r>
          </a:p>
          <a:p>
            <a:r>
              <a:t>- local: src/quest-engine/</a:t>
            </a:r>
          </a:p>
          <a:p>
            <a:r>
              <a:t>- local: src/viewer/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prevents scope confusion. ChatXPT is platform-neutral by architecture, but Twitch is the only supported platform in the MVP.</a:t>
            </a:r>
          </a:p>
          <a:p>
            <a:endParaRPr/>
          </a:p>
          <a:p>
            <a:r>
              <a:t>[Sources]</a:t>
            </a:r>
          </a:p>
          <a:p>
            <a:r>
              <a:t>- local: AGENTS.md</a:t>
            </a:r>
          </a:p>
          <a:p>
            <a:r>
              <a:t>- local: docs/PRODUCT_BRIEF.md</a:t>
            </a:r>
          </a:p>
          <a:p>
            <a:r>
              <a:t>- local: docs/DECISIONS.md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exact intended flow: configure OBS once, then reuse the same scene in future streams. ChatXPT does not host or replace the video stream.</a:t>
            </a:r>
          </a:p>
          <a:p>
            <a:endParaRPr/>
          </a:p>
          <a:p>
            <a:r>
              <a:t>[Sources]</a:t>
            </a:r>
          </a:p>
          <a:p>
            <a:r>
              <a:t>- https://dev.twitch.tv/docs/extensions/</a:t>
            </a:r>
          </a:p>
          <a:p>
            <a:r>
              <a:t>- local: src/integrations/twitch/</a:t>
            </a:r>
          </a:p>
          <a:p>
            <a:r>
              <a:t>- local: src/integrations/obs/</a:t>
            </a:r>
          </a:p>
          <a:p>
            <a:r>
              <a:t>- local visual: changes/role-4/evidence/r4-p03/setup-desktop.png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Automatic and manual modes solve different creator comfort levels. The safety rules remain identical in both modes.</a:t>
            </a:r>
          </a:p>
          <a:p>
            <a:endParaRPr/>
          </a:p>
          <a:p>
            <a:r>
              <a:t>[Sources]</a:t>
            </a:r>
          </a:p>
          <a:p>
            <a:r>
              <a:t>- local: src/streamer/</a:t>
            </a:r>
          </a:p>
          <a:p>
            <a:r>
              <a:t>- local: src/core/application/</a:t>
            </a:r>
          </a:p>
          <a:p>
            <a:r>
              <a:t>- local: docs/DECISIONS.md</a:t>
            </a:r>
          </a:p>
          <a:p>
            <a:r>
              <a:t>- local visual: twitch-upload-assets/ui-snapshots/studio-control-room.png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creator profile is a first-class input, separate from game and audience signals. Persistent storage is described as intended product behaviour until deployment evidence exists.</a:t>
            </a:r>
          </a:p>
          <a:p>
            <a:endParaRPr/>
          </a:p>
          <a:p>
            <a:r>
              <a:t>[Sources]</a:t>
            </a:r>
          </a:p>
          <a:p>
            <a:r>
              <a:t>- local: src/streamer/</a:t>
            </a:r>
          </a:p>
          <a:p>
            <a:r>
              <a:t>- local: src/core/contracts/</a:t>
            </a:r>
          </a:p>
          <a:p>
            <a:r>
              <a:t>- local: src/quest-engine/</a:t>
            </a:r>
          </a:p>
          <a:p>
            <a:r>
              <a:t>- local visual: twitch-upload-assets/ui-snapshots/studio-generated-quests-working.png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viewer never has to leave Twitch for the primary experience. Make the evidence boundary explicit: the compact screenshot is fixture-rendered, while the interaction design is implemented.</a:t>
            </a:r>
          </a:p>
          <a:p>
            <a:endParaRPr/>
          </a:p>
          <a:p>
            <a:r>
              <a:t>[Sources]</a:t>
            </a:r>
          </a:p>
          <a:p>
            <a:r>
              <a:t>- https://doi.org/10.1016/j.chb.2018.02.013</a:t>
            </a:r>
          </a:p>
          <a:p>
            <a:r>
              <a:t>- https://arxiv.org/abs/2012.00215</a:t>
            </a:r>
          </a:p>
          <a:p>
            <a:r>
              <a:t>- local: src/viewer/</a:t>
            </a:r>
          </a:p>
          <a:p>
            <a:r>
              <a:t>- local: docs/evidence/manifest.json</a:t>
            </a:r>
          </a:p>
          <a:p>
            <a:r>
              <a:t>- local visual: docs/evidence/artifacts/2026-08-09-role-5-twitch-compact-voting-fixture-only.png</a:t>
            </a:r>
          </a:p>
          <a:p>
            <a:r>
              <a:t>- local visual: twitch-upload-assets/ui-snapshots/role5-twitch-extension-vote-accepted.png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business-value bridge. Research supports the direction, while ChatXPT's own effect remains a testable hypothesis with explicit product metrics.</a:t>
            </a:r>
          </a:p>
          <a:p>
            <a:endParaRPr/>
          </a:p>
          <a:p>
            <a:r>
              <a:t>[Sources]</a:t>
            </a:r>
          </a:p>
          <a:p>
            <a:r>
              <a:t>- https://doi.org/10.1177/00222429261421488</a:t>
            </a:r>
          </a:p>
          <a:p>
            <a:r>
              <a:t>- https://doi.org/10.1186/s40359-026-04813-x</a:t>
            </a:r>
          </a:p>
          <a:p>
            <a:r>
              <a:t>- local: docs/DECISIONS.md</a:t>
            </a:r>
          </a:p>
          <a:p>
            <a:r>
              <a:t>- local: docs/evidence/manifest.json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where AI begins: reliable visual and audience features are assembled into confidence-scored context. The system reports unknown rather than guessing unsupported facts.</a:t>
            </a:r>
          </a:p>
          <a:p>
            <a:endParaRPr/>
          </a:p>
          <a:p>
            <a:r>
              <a:t>[Sources]</a:t>
            </a:r>
          </a:p>
          <a:p>
            <a:r>
              <a:t>- local: src/extraction/</a:t>
            </a:r>
          </a:p>
          <a:p>
            <a:r>
              <a:t>- local: src/ai/</a:t>
            </a:r>
          </a:p>
          <a:p>
            <a:r>
              <a:t>- local: src/integrations/obs/</a:t>
            </a:r>
          </a:p>
          <a:p>
            <a:r>
              <a:t>- local: docs/DECISIONS.md (D-028, D-029, D-033, D-049, D-054)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precise about AI. The architecture is model-ready and the intelligence work is contextual, but the judged candidate path is the no-credential algorithmic generator. Any future model remains server-side and fallback-safe.</a:t>
            </a:r>
          </a:p>
          <a:p>
            <a:endParaRPr/>
          </a:p>
          <a:p>
            <a:r>
              <a:t>[Sources]</a:t>
            </a:r>
          </a:p>
          <a:p>
            <a:r>
              <a:t>- local: src/ai/</a:t>
            </a:r>
          </a:p>
          <a:p>
            <a:r>
              <a:t>- local: src/lib/mock-engine.ts</a:t>
            </a:r>
          </a:p>
          <a:p>
            <a:r>
              <a:t>- local: src/app/api/sidequests/route.ts</a:t>
            </a:r>
          </a:p>
          <a:p>
            <a:r>
              <a:t>- local: docs/DECISIONS.md (D-055)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trust boundary. AI increases variety and contextual fit; the pure deterministic engine owns safety, exact-three assembly, voting resolution, and lifecycle transitions.</a:t>
            </a:r>
          </a:p>
          <a:p>
            <a:endParaRPr/>
          </a:p>
          <a:p>
            <a:r>
              <a:t>[Sources]</a:t>
            </a:r>
          </a:p>
          <a:p>
            <a:r>
              <a:t>- local: src/quest-engine/</a:t>
            </a:r>
          </a:p>
          <a:p>
            <a:r>
              <a:t>- local: src/quest-engine/validation.ts</a:t>
            </a:r>
          </a:p>
          <a:p>
            <a:r>
              <a:t>- local: src/core/contracts/</a:t>
            </a:r>
          </a:p>
          <a:p>
            <a:r>
              <a:t>- local: docs/DECISIONS.md (D-030, D-044, D-045, D-047)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both the runtime path and the reliability controls. One orchestrator and one authoritative participation service keep Studio, viewers, and OBS on the same revision.</a:t>
            </a:r>
          </a:p>
          <a:p>
            <a:endParaRPr/>
          </a:p>
          <a:p>
            <a:r>
              <a:t>[Sources]</a:t>
            </a:r>
          </a:p>
          <a:p>
            <a:r>
              <a:t>- local: docs/ARCHITECTURE.md</a:t>
            </a:r>
          </a:p>
          <a:p>
            <a:r>
              <a:t>- local: docs/build-plans/INTEGRATION-CONTRACT.md</a:t>
            </a:r>
          </a:p>
          <a:p>
            <a:r>
              <a:t>- local: src/core/</a:t>
            </a:r>
          </a:p>
          <a:p>
            <a:r>
              <a:t>- local: tests/integration/</a:t>
            </a:r>
          </a:p>
          <a:p>
            <a:r>
              <a:t>- local: docs/evidence/manifest.json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on disciplined expansion. The reusable asset is the platform-neutral intelligence, deterministic safety, and participation engine; Twitch is the proving ground.</a:t>
            </a:r>
          </a:p>
          <a:p>
            <a:endParaRPr/>
          </a:p>
          <a:p>
            <a:r>
              <a:t>[Sources]</a:t>
            </a:r>
          </a:p>
          <a:p>
            <a:r>
              <a:t>- local: docs/PRODUCT_BRIEF.md</a:t>
            </a:r>
          </a:p>
          <a:p>
            <a:r>
              <a:t>- local: docs/ARCHITECTURE.md</a:t>
            </a:r>
          </a:p>
          <a:p>
            <a:r>
              <a:t>- local: docs/DECISIONS.md</a:t>
            </a:r>
          </a:p>
          <a:p>
            <a:r>
              <a:t>- local: src/integrations/</a:t>
            </a:r>
          </a:p>
          <a:p>
            <a:r>
              <a:t>- local: src/core/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AB647A-DB30-4C17-8585-31E5443FF384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800100" cy="6858000"/>
          </a:xfrm>
          <a:prstGeom prst="rect">
            <a:avLst/>
          </a:prstGeom>
          <a:solidFill>
            <a:srgbClr val="0D0B14"/>
          </a:solidFill>
          <a:ln w="0">
            <a:noFill/>
            <a:prstDash val="solid"/>
          </a:ln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666750"/>
            <a:ext cx="419100" cy="419100"/>
          </a:xfrm>
          <a:prstGeom prst="roundRect">
            <a:avLst>
              <a:gd name="adj" fmla="val 18182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89DAA51-358E-4BFF-8357-698A967E2625}"/>
              </a:ext>
            </a:extLst>
          </p:cNvPr>
          <p:cNvSpPr>
            <a:spLocks noGrp="1"/>
          </p:cNvSpPr>
          <p:nvPr/>
        </p:nvSpPr>
        <p:spPr>
          <a:xfrm>
            <a:off x="1066800" y="447675"/>
            <a:ext cx="2771274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5000" b="1" dirty="0" err="1">
                <a:solidFill>
                  <a:srgbClr val="FFFFFF"/>
                </a:solidFill>
              </a:rPr>
              <a:t>ChatXPT</a:t>
            </a:r>
            <a:endParaRPr sz="5000" b="1" dirty="0">
              <a:solidFill>
                <a:srgbClr val="FFFFFF"/>
              </a:solidFill>
            </a:endParaRPr>
          </a:p>
        </p:txBody>
      </p:sp>
      <p:sp>
        <p:nvSpPr>
          <p:cNvPr id="5" name="deck-title">
            <a:extLst>
              <a:ext uri="{FF2B5EF4-FFF2-40B4-BE49-F238E27FC236}">
                <a16:creationId xmlns:a16="http://schemas.microsoft.com/office/drawing/2014/main" id="{BE54466E-D518-4097-8085-C5C9D8212F7C}"/>
              </a:ext>
            </a:extLst>
          </p:cNvPr>
          <p:cNvSpPr>
            <a:spLocks noGrp="1"/>
          </p:cNvSpPr>
          <p:nvPr/>
        </p:nvSpPr>
        <p:spPr>
          <a:xfrm>
            <a:off x="495300" y="1543050"/>
            <a:ext cx="5429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rPr lang="en-US" sz="4800" b="1" dirty="0">
                <a:solidFill>
                  <a:srgbClr val="FFFFFF"/>
                </a:solidFill>
              </a:rPr>
              <a:t>Stream to Engage, </a:t>
            </a:r>
            <a:r>
              <a:rPr sz="4800" b="1" dirty="0">
                <a:solidFill>
                  <a:srgbClr val="FFFFFF"/>
                </a:solidFill>
              </a:rPr>
              <a:t>Viewer </a:t>
            </a:r>
            <a:r>
              <a:rPr lang="en-US" sz="4800" b="1" dirty="0">
                <a:solidFill>
                  <a:srgbClr val="FFFFFF"/>
                </a:solidFill>
              </a:rPr>
              <a:t>with A</a:t>
            </a:r>
            <a:r>
              <a:rPr sz="4800" b="1" dirty="0">
                <a:solidFill>
                  <a:srgbClr val="FFFFFF"/>
                </a:solidFill>
              </a:rPr>
              <a:t>gency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7CDB16-7EC5-4685-B0FA-F29F413AE75E}"/>
              </a:ext>
            </a:extLst>
          </p:cNvPr>
          <p:cNvSpPr>
            <a:spLocks noGrp="1"/>
          </p:cNvSpPr>
          <p:nvPr/>
        </p:nvSpPr>
        <p:spPr>
          <a:xfrm>
            <a:off x="495300" y="3638550"/>
            <a:ext cx="5048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C9C5D1"/>
                </a:solidFill>
              </a:defRPr>
            </a:pPr>
            <a:r>
              <a:rPr sz="1575" b="0">
                <a:solidFill>
                  <a:srgbClr val="C9C5D1"/>
                </a:solidFill>
              </a:rPr>
              <a:t>An AI stream director that turns gameplay context, audience energy, and streamer style into safe sidequests viewers choose in real time.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037F27-3601-4CDA-83E8-08CDC88DDFBC}"/>
              </a:ext>
            </a:extLst>
          </p:cNvPr>
          <p:cNvSpPr>
            <a:spLocks noGrp="1"/>
          </p:cNvSpPr>
          <p:nvPr/>
        </p:nvSpPr>
        <p:spPr>
          <a:xfrm>
            <a:off x="495300" y="4829175"/>
            <a:ext cx="1047750" cy="47625"/>
          </a:xfrm>
          <a:prstGeom prst="rect">
            <a:avLst/>
          </a:prstGeom>
          <a:solidFill>
            <a:srgbClr val="C9F53B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FBFF9B-B33B-4682-B854-04AB9A1AE46D}"/>
              </a:ext>
            </a:extLst>
          </p:cNvPr>
          <p:cNvSpPr>
            <a:spLocks noGrp="1"/>
          </p:cNvSpPr>
          <p:nvPr/>
        </p:nvSpPr>
        <p:spPr>
          <a:xfrm>
            <a:off x="495300" y="5105400"/>
            <a:ext cx="533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Yong Chen Jun, Kevin (Team Lead)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Joel Yap  |  Fred  |  Lim Jia Yin  |  Phua Jun Kai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70C47B-2C91-47A3-9F88-308EA147BE39}"/>
              </a:ext>
            </a:extLst>
          </p:cNvPr>
          <p:cNvSpPr>
            <a:spLocks noGrp="1"/>
          </p:cNvSpPr>
          <p:nvPr/>
        </p:nvSpPr>
        <p:spPr>
          <a:xfrm>
            <a:off x="495300" y="6343650"/>
            <a:ext cx="11201400" cy="9525"/>
          </a:xfrm>
          <a:prstGeom prst="rect">
            <a:avLst/>
          </a:prstGeom>
          <a:solidFill>
            <a:srgbClr val="35313C"/>
          </a:solidFill>
          <a:ln w="0">
            <a:noFill/>
            <a:prstDash val="solid"/>
          </a:ln>
        </p:spPr>
      </p:sp>
      <p:sp>
        <p:nvSpPr>
          <p:cNvPr id="10" name="slide-1-repo">
            <a:extLst>
              <a:ext uri="{FF2B5EF4-FFF2-40B4-BE49-F238E27FC236}">
                <a16:creationId xmlns:a16="http://schemas.microsoft.com/office/drawing/2014/main" id="{3FF04CD2-C9FD-442C-B2E9-01FC2C29D196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l">
              <a:defRPr sz="750" b="0">
                <a:solidFill>
                  <a:srgbClr val="A9A6B2"/>
                </a:solidFill>
              </a:defRPr>
            </a:pPr>
            <a:r>
              <a:rPr sz="750" b="0">
                <a:solidFill>
                  <a:srgbClr val="A9A6B2"/>
                </a:solidFill>
              </a:rPr>
              <a:t>REPO LENS  README.md  |  docs/PRODUCT_BRIEF.md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919860-22CD-46CD-BD6C-1C9497996FE6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r">
              <a:defRPr sz="750" b="1">
                <a:solidFill>
                  <a:srgbClr val="A9A6B2"/>
                </a:solidFill>
              </a:defRPr>
            </a:pPr>
            <a:r>
              <a:rPr sz="750" b="1">
                <a:solidFill>
                  <a:srgbClr val="A9A6B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9522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-2-title">
            <a:extLst>
              <a:ext uri="{FF2B5EF4-FFF2-40B4-BE49-F238E27FC236}">
                <a16:creationId xmlns:a16="http://schemas.microsoft.com/office/drawing/2014/main" id="{29DB6E97-9AE8-420C-8CAC-567E850647B3}"/>
              </a:ext>
            </a:extLst>
          </p:cNvPr>
          <p:cNvSpPr>
            <a:spLocks noGrp="1"/>
          </p:cNvSpPr>
          <p:nvPr/>
        </p:nvSpPr>
        <p:spPr>
          <a:xfrm>
            <a:off x="495300" y="381000"/>
            <a:ext cx="9334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225" b="1">
                <a:solidFill>
                  <a:srgbClr val="101014"/>
                </a:solidFill>
              </a:defRPr>
            </a:pPr>
            <a:r>
              <a:rPr lang="en-US" sz="3225" b="1" dirty="0">
                <a:solidFill>
                  <a:srgbClr val="101014"/>
                </a:solidFill>
              </a:rPr>
              <a:t>The struggle of small streamers</a:t>
            </a:r>
            <a:endParaRPr sz="3225" b="1" dirty="0">
              <a:solidFill>
                <a:srgbClr val="101014"/>
              </a:solidFill>
            </a:endParaRPr>
          </a:p>
        </p:txBody>
      </p:sp>
      <p:sp>
        <p:nvSpPr>
          <p:cNvPr id="2" name="slide-2-section">
            <a:extLst>
              <a:ext uri="{FF2B5EF4-FFF2-40B4-BE49-F238E27FC236}">
                <a16:creationId xmlns:a16="http://schemas.microsoft.com/office/drawing/2014/main" id="{D997A11E-3B59-4175-997F-B5EDAC3D42CF}"/>
              </a:ext>
            </a:extLst>
          </p:cNvPr>
          <p:cNvSpPr>
            <a:spLocks noGrp="1"/>
          </p:cNvSpPr>
          <p:nvPr/>
        </p:nvSpPr>
        <p:spPr>
          <a:xfrm>
            <a:off x="10191750" y="447675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75" b="1">
                <a:solidFill>
                  <a:srgbClr val="7657FF"/>
                </a:solidFill>
              </a:defRPr>
            </a:pPr>
            <a:r>
              <a:rPr sz="975" b="1">
                <a:solidFill>
                  <a:srgbClr val="7657FF"/>
                </a:solidFill>
              </a:rPr>
              <a:t>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CADF1D-29FE-4F76-AE57-A02E01246442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914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 lnSpcReduction="10000"/>
          </a:bodyPr>
          <a:lstStyle/>
          <a:p>
            <a:pPr algn="l">
              <a:defRPr sz="1500" b="0">
                <a:solidFill>
                  <a:srgbClr val="5D626D"/>
                </a:solidFill>
              </a:defRPr>
            </a:pPr>
            <a:r>
              <a:rPr sz="1500" b="0" dirty="0">
                <a:solidFill>
                  <a:srgbClr val="5D626D"/>
                </a:solidFill>
              </a:rPr>
              <a:t>A 2024-2025 regional Twitch audit shows why emerging creators need stronger participation mechanics, not simply more hours online.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94A236-28F7-45E2-9878-D429F09F3DAC}"/>
              </a:ext>
            </a:extLst>
          </p:cNvPr>
          <p:cNvSpPr>
            <a:spLocks noGrp="1"/>
          </p:cNvSpPr>
          <p:nvPr/>
        </p:nvSpPr>
        <p:spPr>
          <a:xfrm>
            <a:off x="495300" y="1760118"/>
            <a:ext cx="3238500" cy="38100"/>
          </a:xfrm>
          <a:prstGeom prst="rect">
            <a:avLst/>
          </a:prstGeom>
          <a:solidFill>
            <a:srgbClr val="F45B7A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50C86-8C05-4CE5-81D0-5A535AFDA6F0}"/>
              </a:ext>
            </a:extLst>
          </p:cNvPr>
          <p:cNvSpPr>
            <a:spLocks noGrp="1"/>
          </p:cNvSpPr>
          <p:nvPr/>
        </p:nvSpPr>
        <p:spPr>
          <a:xfrm>
            <a:off x="495300" y="1979193"/>
            <a:ext cx="3238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600" b="1">
                <a:solidFill>
                  <a:srgbClr val="101014"/>
                </a:solidFill>
              </a:defRPr>
            </a:pPr>
            <a:r>
              <a:rPr sz="4800" b="1">
                <a:solidFill>
                  <a:srgbClr val="101014"/>
                </a:solidFill>
              </a:rPr>
              <a:t>75.23%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E5C6EC-91B1-49DF-A992-C8AE7C6E3818}"/>
              </a:ext>
            </a:extLst>
          </p:cNvPr>
          <p:cNvSpPr>
            <a:spLocks noGrp="1"/>
          </p:cNvSpPr>
          <p:nvPr/>
        </p:nvSpPr>
        <p:spPr>
          <a:xfrm>
            <a:off x="495300" y="2743698"/>
            <a:ext cx="3238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01014"/>
                </a:solidFill>
              </a:defRPr>
            </a:pPr>
            <a:r>
              <a:rPr sz="2000" b="1" dirty="0">
                <a:solidFill>
                  <a:srgbClr val="101014"/>
                </a:solidFill>
              </a:rPr>
              <a:t>creator attrition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A74FBD-7ED9-429A-BF4E-F2009E232EDC}"/>
              </a:ext>
            </a:extLst>
          </p:cNvPr>
          <p:cNvSpPr>
            <a:spLocks noGrp="1"/>
          </p:cNvSpPr>
          <p:nvPr/>
        </p:nvSpPr>
        <p:spPr>
          <a:xfrm>
            <a:off x="495300" y="3193382"/>
            <a:ext cx="3238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lnSpcReduction="10000"/>
          </a:bodyPr>
          <a:lstStyle/>
          <a:p>
            <a:pPr algn="l">
              <a:defRPr sz="1125" b="0">
                <a:solidFill>
                  <a:srgbClr val="5D626D"/>
                </a:solidFill>
              </a:defRPr>
            </a:pPr>
            <a:r>
              <a:rPr sz="1600" b="0" dirty="0">
                <a:solidFill>
                  <a:srgbClr val="5D626D"/>
                </a:solidFill>
              </a:rPr>
              <a:t>Creators present in the earlier cohort but absent in the later period.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E5EA21-C3D9-49BB-AAB7-6003F4D00ABE}"/>
              </a:ext>
            </a:extLst>
          </p:cNvPr>
          <p:cNvSpPr>
            <a:spLocks noGrp="1"/>
          </p:cNvSpPr>
          <p:nvPr/>
        </p:nvSpPr>
        <p:spPr>
          <a:xfrm>
            <a:off x="4476750" y="1760118"/>
            <a:ext cx="3238500" cy="38100"/>
          </a:xfrm>
          <a:prstGeom prst="rect">
            <a:avLst/>
          </a:prstGeom>
          <a:solidFill>
            <a:srgbClr val="7657F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2047C4-6792-4721-9A07-8ACE04A460A6}"/>
              </a:ext>
            </a:extLst>
          </p:cNvPr>
          <p:cNvSpPr>
            <a:spLocks noGrp="1"/>
          </p:cNvSpPr>
          <p:nvPr/>
        </p:nvSpPr>
        <p:spPr>
          <a:xfrm>
            <a:off x="4476750" y="1979193"/>
            <a:ext cx="3238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600" b="1">
                <a:solidFill>
                  <a:srgbClr val="101014"/>
                </a:solidFill>
              </a:defRPr>
            </a:pPr>
            <a:r>
              <a:rPr sz="4800" b="1">
                <a:solidFill>
                  <a:srgbClr val="101014"/>
                </a:solidFill>
              </a:rPr>
              <a:t>90%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15487D-46EB-408D-96AC-9202D0D6BC18}"/>
              </a:ext>
            </a:extLst>
          </p:cNvPr>
          <p:cNvSpPr>
            <a:spLocks noGrp="1"/>
          </p:cNvSpPr>
          <p:nvPr/>
        </p:nvSpPr>
        <p:spPr>
          <a:xfrm>
            <a:off x="4476750" y="2743698"/>
            <a:ext cx="3238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01014"/>
                </a:solidFill>
              </a:defRPr>
            </a:pPr>
            <a:r>
              <a:rPr sz="2000" b="1" dirty="0">
                <a:solidFill>
                  <a:srgbClr val="101014"/>
                </a:solidFill>
              </a:rPr>
              <a:t>audience concentration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85C38D-0073-473F-AA8B-E21D59919987}"/>
              </a:ext>
            </a:extLst>
          </p:cNvPr>
          <p:cNvSpPr>
            <a:spLocks noGrp="1"/>
          </p:cNvSpPr>
          <p:nvPr/>
        </p:nvSpPr>
        <p:spPr>
          <a:xfrm>
            <a:off x="4476750" y="3193382"/>
            <a:ext cx="3238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5D626D"/>
                </a:solidFill>
              </a:defRPr>
            </a:pPr>
            <a:r>
              <a:rPr sz="1600" b="0">
                <a:solidFill>
                  <a:srgbClr val="5D626D"/>
                </a:solidFill>
              </a:rPr>
              <a:t>Share of audience attention held by the top 20% in the audited ecosystem.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83494D-4060-4663-85D0-D52FA5A82F59}"/>
              </a:ext>
            </a:extLst>
          </p:cNvPr>
          <p:cNvSpPr>
            <a:spLocks noGrp="1"/>
          </p:cNvSpPr>
          <p:nvPr/>
        </p:nvSpPr>
        <p:spPr>
          <a:xfrm>
            <a:off x="8458200" y="1760118"/>
            <a:ext cx="3238500" cy="38100"/>
          </a:xfrm>
          <a:prstGeom prst="rect">
            <a:avLst/>
          </a:prstGeom>
          <a:solidFill>
            <a:srgbClr val="34BDEB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CA1DFE-EEED-439F-84F9-AB52210DB9E6}"/>
              </a:ext>
            </a:extLst>
          </p:cNvPr>
          <p:cNvSpPr>
            <a:spLocks noGrp="1"/>
          </p:cNvSpPr>
          <p:nvPr/>
        </p:nvSpPr>
        <p:spPr>
          <a:xfrm>
            <a:off x="8458200" y="1979193"/>
            <a:ext cx="3238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600" b="1">
                <a:solidFill>
                  <a:srgbClr val="101014"/>
                </a:solidFill>
              </a:defRPr>
            </a:pPr>
            <a:r>
              <a:rPr sz="4800" b="1">
                <a:solidFill>
                  <a:srgbClr val="101014"/>
                </a:solidFill>
              </a:rPr>
              <a:t>-27.4%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345655-AC43-4314-844F-53F386BFCFDC}"/>
              </a:ext>
            </a:extLst>
          </p:cNvPr>
          <p:cNvSpPr>
            <a:spLocks noGrp="1"/>
          </p:cNvSpPr>
          <p:nvPr/>
        </p:nvSpPr>
        <p:spPr>
          <a:xfrm>
            <a:off x="8458200" y="2743698"/>
            <a:ext cx="3238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01014"/>
                </a:solidFill>
              </a:defRPr>
            </a:pPr>
            <a:r>
              <a:rPr sz="2000" b="1" dirty="0">
                <a:solidFill>
                  <a:srgbClr val="101014"/>
                </a:solidFill>
              </a:rPr>
              <a:t>average audience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A77759-8183-4BF4-A549-F1BCFA76045E}"/>
              </a:ext>
            </a:extLst>
          </p:cNvPr>
          <p:cNvSpPr>
            <a:spLocks noGrp="1"/>
          </p:cNvSpPr>
          <p:nvPr/>
        </p:nvSpPr>
        <p:spPr>
          <a:xfrm>
            <a:off x="8458200" y="3193382"/>
            <a:ext cx="3238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lnSpcReduction="10000"/>
          </a:bodyPr>
          <a:lstStyle/>
          <a:p>
            <a:pPr algn="l">
              <a:defRPr sz="1125" b="0">
                <a:solidFill>
                  <a:srgbClr val="5D626D"/>
                </a:solidFill>
              </a:defRPr>
            </a:pPr>
            <a:r>
              <a:rPr sz="1600" b="0" dirty="0">
                <a:solidFill>
                  <a:srgbClr val="5D626D"/>
                </a:solidFill>
              </a:rPr>
              <a:t>Decline among creators active in both periods: 17.67 to 12.83 viewers.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F6E6164-E6CB-486A-A927-C8B60588D747}"/>
              </a:ext>
            </a:extLst>
          </p:cNvPr>
          <p:cNvSpPr>
            <a:spLocks noGrp="1"/>
          </p:cNvSpPr>
          <p:nvPr/>
        </p:nvSpPr>
        <p:spPr>
          <a:xfrm>
            <a:off x="7457072" y="4175958"/>
            <a:ext cx="4201528" cy="1651840"/>
          </a:xfrm>
          <a:prstGeom prst="roundRect">
            <a:avLst>
              <a:gd name="adj" fmla="val 6897"/>
            </a:avLst>
          </a:prstGeom>
          <a:solidFill>
            <a:srgbClr val="0D0B14"/>
          </a:solidFill>
          <a:ln w="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E7EEF9-1833-4D5D-AC89-5B7CF0F07191}"/>
              </a:ext>
            </a:extLst>
          </p:cNvPr>
          <p:cNvSpPr>
            <a:spLocks noGrp="1"/>
          </p:cNvSpPr>
          <p:nvPr/>
        </p:nvSpPr>
        <p:spPr>
          <a:xfrm>
            <a:off x="7676147" y="4503574"/>
            <a:ext cx="3857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194" lnSpcReduction="10000"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 dirty="0">
                <a:solidFill>
                  <a:srgbClr val="FFFFFF"/>
                </a:solidFill>
              </a:rPr>
              <a:t>Better gameplay alone is not enough.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47F0C-88B7-47F5-B99D-B941710426CC}"/>
              </a:ext>
            </a:extLst>
          </p:cNvPr>
          <p:cNvSpPr>
            <a:spLocks noGrp="1"/>
          </p:cNvSpPr>
          <p:nvPr/>
        </p:nvSpPr>
        <p:spPr>
          <a:xfrm>
            <a:off x="7676147" y="4913398"/>
            <a:ext cx="3561346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 lnSpcReduction="20000"/>
          </a:bodyPr>
          <a:lstStyle/>
          <a:p>
            <a:pPr algn="l">
              <a:defRPr sz="1425" b="0">
                <a:solidFill>
                  <a:srgbClr val="D9D5E0"/>
                </a:solidFill>
              </a:defRPr>
            </a:pPr>
            <a:r>
              <a:rPr sz="1425" b="0" dirty="0">
                <a:solidFill>
                  <a:srgbClr val="D9D5E0"/>
                </a:solidFill>
              </a:rPr>
              <a:t>Smaller streamers need repeatable moments that reveal personality and give viewers a reason to participate.</a:t>
            </a:r>
          </a:p>
        </p:txBody>
      </p:sp>
      <p:sp>
        <p:nvSpPr>
          <p:cNvPr id="19" name="slide-2-evidence">
            <a:extLst>
              <a:ext uri="{FF2B5EF4-FFF2-40B4-BE49-F238E27FC236}">
                <a16:creationId xmlns:a16="http://schemas.microsoft.com/office/drawing/2014/main" id="{7A48B00C-ED05-4EDB-B3FE-ABC8C83076B4}"/>
              </a:ext>
            </a:extLst>
          </p:cNvPr>
          <p:cNvSpPr>
            <a:spLocks noGrp="1"/>
          </p:cNvSpPr>
          <p:nvPr/>
        </p:nvSpPr>
        <p:spPr>
          <a:xfrm>
            <a:off x="495300" y="6029325"/>
            <a:ext cx="1057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825" b="0">
                <a:solidFill>
                  <a:srgbClr val="5D626D"/>
                </a:solidFill>
              </a:defRPr>
            </a:pPr>
            <a:r>
              <a:rPr sz="825" b="0">
                <a:solidFill>
                  <a:srgbClr val="5D626D"/>
                </a:solidFill>
              </a:rPr>
              <a:t>Evidence: Padilla, 2025 OSF preprint. Regional audit; not a global Twitch estimate.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4437C6-82EB-4D7B-A6C6-5CA90484D97A}"/>
              </a:ext>
            </a:extLst>
          </p:cNvPr>
          <p:cNvSpPr>
            <a:spLocks noGrp="1"/>
          </p:cNvSpPr>
          <p:nvPr/>
        </p:nvSpPr>
        <p:spPr>
          <a:xfrm>
            <a:off x="495300" y="6343650"/>
            <a:ext cx="1120140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21" name="slide-2-repo">
            <a:extLst>
              <a:ext uri="{FF2B5EF4-FFF2-40B4-BE49-F238E27FC236}">
                <a16:creationId xmlns:a16="http://schemas.microsoft.com/office/drawing/2014/main" id="{8CEBEFCA-AB02-4DB2-A1C9-C0E229C97347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l">
              <a:defRPr sz="750" b="0">
                <a:solidFill>
                  <a:srgbClr val="5D626D"/>
                </a:solidFill>
              </a:defRPr>
            </a:pPr>
            <a:r>
              <a:rPr sz="750" b="0">
                <a:solidFill>
                  <a:srgbClr val="5D626D"/>
                </a:solidFill>
              </a:rPr>
              <a:t>REPO LENS  docs/research/PRODUCT-VALIDATION.md  |  docs/PRODUCT_BRIEF.md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7D4C0C-B7C5-438E-8209-18AF7E01165B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r">
              <a:defRPr sz="750" b="1">
                <a:solidFill>
                  <a:srgbClr val="5D626D"/>
                </a:solidFill>
              </a:defRPr>
            </a:pPr>
            <a:r>
              <a:rPr sz="750" b="1">
                <a:solidFill>
                  <a:srgbClr val="5D626D"/>
                </a:solidFill>
              </a:rPr>
              <a:t>02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AF00BB-4221-0287-9953-1FFC9FD21CE3}"/>
              </a:ext>
            </a:extLst>
          </p:cNvPr>
          <p:cNvSpPr>
            <a:spLocks noGrp="1"/>
          </p:cNvSpPr>
          <p:nvPr/>
        </p:nvSpPr>
        <p:spPr>
          <a:xfrm>
            <a:off x="495300" y="4231108"/>
            <a:ext cx="6540665" cy="15951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D626D"/>
                </a:solidFill>
              </a:defRPr>
            </a:pPr>
            <a:r>
              <a:rPr lang="en-US" sz="1600" b="0" dirty="0">
                <a:solidFill>
                  <a:srgbClr val="5D626D"/>
                </a:solidFill>
              </a:rPr>
              <a:t>Small streamers fail to capture audience due to high barriers of entry:</a:t>
            </a:r>
          </a:p>
          <a:p>
            <a:pPr marL="285750" indent="-285750" algn="l">
              <a:buFontTx/>
              <a:buChar char="-"/>
              <a:defRPr sz="1500" b="0">
                <a:solidFill>
                  <a:srgbClr val="5D626D"/>
                </a:solidFill>
              </a:defRPr>
            </a:pPr>
            <a:r>
              <a:rPr lang="en-US" sz="1600" dirty="0">
                <a:solidFill>
                  <a:srgbClr val="5D626D"/>
                </a:solidFill>
              </a:rPr>
              <a:t>Limited algorithmic discoverability</a:t>
            </a:r>
          </a:p>
          <a:p>
            <a:pPr marL="285750" indent="-285750">
              <a:buFontTx/>
              <a:buChar char="-"/>
              <a:defRPr sz="1500" b="0">
                <a:solidFill>
                  <a:srgbClr val="5D626D"/>
                </a:solidFill>
              </a:defRPr>
            </a:pPr>
            <a:r>
              <a:rPr lang="en-SG" sz="1600" b="0" dirty="0">
                <a:solidFill>
                  <a:srgbClr val="5D626D"/>
                </a:solidFill>
              </a:rPr>
              <a:t>Complex production tools</a:t>
            </a:r>
          </a:p>
          <a:p>
            <a:pPr marL="285750" indent="-285750">
              <a:buFontTx/>
              <a:buChar char="-"/>
              <a:defRPr sz="1500" b="0">
                <a:solidFill>
                  <a:srgbClr val="5D626D"/>
                </a:solidFill>
              </a:defRPr>
            </a:pPr>
            <a:r>
              <a:rPr lang="en-SG" sz="1600" dirty="0">
                <a:solidFill>
                  <a:srgbClr val="5D626D"/>
                </a:solidFill>
              </a:rPr>
              <a:t>C</a:t>
            </a:r>
            <a:r>
              <a:rPr lang="en-SG" sz="1600" b="0" dirty="0">
                <a:solidFill>
                  <a:srgbClr val="5D626D"/>
                </a:solidFill>
              </a:rPr>
              <a:t>onstant manual engagement</a:t>
            </a:r>
          </a:p>
          <a:p>
            <a:pPr marL="285750" indent="-285750">
              <a:buFontTx/>
              <a:buChar char="-"/>
              <a:defRPr sz="1500" b="0">
                <a:solidFill>
                  <a:srgbClr val="5D626D"/>
                </a:solidFill>
              </a:defRPr>
            </a:pPr>
            <a:r>
              <a:rPr lang="en-SG" sz="1600" dirty="0">
                <a:solidFill>
                  <a:srgbClr val="5D626D"/>
                </a:solidFill>
              </a:rPr>
              <a:t>R</a:t>
            </a:r>
            <a:r>
              <a:rPr lang="en-SG" sz="1600" b="0" dirty="0">
                <a:solidFill>
                  <a:srgbClr val="5D626D"/>
                </a:solidFill>
              </a:rPr>
              <a:t>epetitive content</a:t>
            </a:r>
          </a:p>
          <a:p>
            <a:pPr marL="285750" indent="-285750">
              <a:buFontTx/>
              <a:buChar char="-"/>
              <a:defRPr sz="1500" b="0">
                <a:solidFill>
                  <a:srgbClr val="5D626D"/>
                </a:solidFill>
              </a:defRPr>
            </a:pPr>
            <a:r>
              <a:rPr lang="en-SG" sz="1600" dirty="0">
                <a:solidFill>
                  <a:srgbClr val="5D626D"/>
                </a:solidFill>
              </a:rPr>
              <a:t>Competition </a:t>
            </a:r>
            <a:r>
              <a:rPr lang="en-SG" sz="1600" b="0" dirty="0">
                <a:solidFill>
                  <a:srgbClr val="5D626D"/>
                </a:solidFill>
              </a:rPr>
              <a:t>from established creators</a:t>
            </a:r>
            <a:endParaRPr sz="1600" b="0" dirty="0">
              <a:solidFill>
                <a:srgbClr val="5D62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37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3-title">
            <a:extLst>
              <a:ext uri="{FF2B5EF4-FFF2-40B4-BE49-F238E27FC236}">
                <a16:creationId xmlns:a16="http://schemas.microsoft.com/office/drawing/2014/main" id="{BB868FDD-005B-461E-9835-F5EDB3F196E4}"/>
              </a:ext>
            </a:extLst>
          </p:cNvPr>
          <p:cNvSpPr>
            <a:spLocks noGrp="1"/>
          </p:cNvSpPr>
          <p:nvPr/>
        </p:nvSpPr>
        <p:spPr>
          <a:xfrm>
            <a:off x="495300" y="381000"/>
            <a:ext cx="9334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771"/>
          </a:bodyPr>
          <a:lstStyle/>
          <a:p>
            <a:pPr algn="l">
              <a:defRPr sz="2925" b="1">
                <a:solidFill>
                  <a:srgbClr val="101014"/>
                </a:solidFill>
              </a:defRPr>
            </a:pPr>
            <a:r>
              <a:rPr lang="en-US" sz="2925" b="1" dirty="0">
                <a:solidFill>
                  <a:srgbClr val="101014"/>
                </a:solidFill>
              </a:rPr>
              <a:t>Engagement Difficulties</a:t>
            </a:r>
            <a:endParaRPr sz="2925" b="1" dirty="0">
              <a:solidFill>
                <a:srgbClr val="101014"/>
              </a:solidFill>
            </a:endParaRPr>
          </a:p>
        </p:txBody>
      </p:sp>
      <p:sp>
        <p:nvSpPr>
          <p:cNvPr id="2" name="slide-3-section">
            <a:extLst>
              <a:ext uri="{FF2B5EF4-FFF2-40B4-BE49-F238E27FC236}">
                <a16:creationId xmlns:a16="http://schemas.microsoft.com/office/drawing/2014/main" id="{6AFB96A4-DD4A-4F2B-874C-50C2FF126DE3}"/>
              </a:ext>
            </a:extLst>
          </p:cNvPr>
          <p:cNvSpPr>
            <a:spLocks noGrp="1"/>
          </p:cNvSpPr>
          <p:nvPr/>
        </p:nvSpPr>
        <p:spPr>
          <a:xfrm>
            <a:off x="10191750" y="447675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75" b="1">
                <a:solidFill>
                  <a:srgbClr val="7657FF"/>
                </a:solidFill>
              </a:defRPr>
            </a:pPr>
            <a:r>
              <a:rPr sz="975" b="1">
                <a:solidFill>
                  <a:srgbClr val="7657FF"/>
                </a:solidFill>
              </a:rPr>
              <a:t>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21AC7B-2D1F-42DD-9ACB-3AA34FE4A3F4}"/>
              </a:ext>
            </a:extLst>
          </p:cNvPr>
          <p:cNvSpPr>
            <a:spLocks noGrp="1"/>
          </p:cNvSpPr>
          <p:nvPr/>
        </p:nvSpPr>
        <p:spPr>
          <a:xfrm>
            <a:off x="493796" y="1042235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01014"/>
                </a:solidFill>
              </a:defRPr>
            </a:pPr>
            <a:r>
              <a:rPr sz="2025" b="1" dirty="0">
                <a:solidFill>
                  <a:srgbClr val="101014"/>
                </a:solidFill>
              </a:rPr>
              <a:t>Livestream chat creates lots of messages but little structured participation.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F12A34-EDE1-494F-83CA-D0DCD4AD1CBD}"/>
              </a:ext>
            </a:extLst>
          </p:cNvPr>
          <p:cNvSpPr>
            <a:spLocks noGrp="1"/>
          </p:cNvSpPr>
          <p:nvPr/>
        </p:nvSpPr>
        <p:spPr>
          <a:xfrm>
            <a:off x="493796" y="1423987"/>
            <a:ext cx="10715625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5D626D"/>
                </a:solidFill>
              </a:defRPr>
            </a:pPr>
            <a:r>
              <a:rPr sz="2000" b="0" dirty="0">
                <a:solidFill>
                  <a:srgbClr val="5D626D"/>
                </a:solidFill>
              </a:rPr>
              <a:t>Turning reactions into engaging content is inconvenient and mentally tiring because the streamer must read, interpret, moderate, invent, and operate controls while still playing.</a:t>
            </a:r>
            <a:endParaRPr lang="en-US" sz="2000" dirty="0">
              <a:solidFill>
                <a:srgbClr val="5D626D"/>
              </a:solidFill>
            </a:endParaRPr>
          </a:p>
          <a:p>
            <a:pPr algn="l">
              <a:defRPr sz="1425" b="0">
                <a:solidFill>
                  <a:srgbClr val="5D626D"/>
                </a:solidFill>
              </a:defRPr>
            </a:pPr>
            <a:endParaRPr lang="en-SG" sz="600" dirty="0">
              <a:solidFill>
                <a:srgbClr val="5D626D"/>
              </a:solidFill>
            </a:endParaRPr>
          </a:p>
          <a:p>
            <a:pPr>
              <a:defRPr sz="1425" b="0">
                <a:solidFill>
                  <a:srgbClr val="5D626D"/>
                </a:solidFill>
              </a:defRPr>
            </a:pPr>
            <a:r>
              <a:rPr lang="en-SG" sz="2000" b="1" dirty="0">
                <a:solidFill>
                  <a:srgbClr val="5D626D"/>
                </a:solidFill>
              </a:rPr>
              <a:t>This makes </a:t>
            </a:r>
            <a:r>
              <a:rPr lang="en-SG" sz="2000" b="1" dirty="0">
                <a:solidFill>
                  <a:srgbClr val="101014"/>
                </a:solidFill>
              </a:rPr>
              <a:t>today's engagement is manual, shallow, and tiring to sustain</a:t>
            </a:r>
          </a:p>
          <a:p>
            <a:pPr algn="l">
              <a:defRPr sz="1425" b="0">
                <a:solidFill>
                  <a:srgbClr val="5D626D"/>
                </a:solidFill>
              </a:defRPr>
            </a:pPr>
            <a:endParaRPr sz="2000" b="0" dirty="0">
              <a:solidFill>
                <a:srgbClr val="5D626D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ECC393-90C0-4981-8250-983198F52C0C}"/>
              </a:ext>
            </a:extLst>
          </p:cNvPr>
          <p:cNvSpPr>
            <a:spLocks noGrp="1"/>
          </p:cNvSpPr>
          <p:nvPr/>
        </p:nvSpPr>
        <p:spPr>
          <a:xfrm>
            <a:off x="3228975" y="3467099"/>
            <a:ext cx="704850" cy="2857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BD95D0-82B6-4F4B-BBAF-FBF5C7B221AB}"/>
              </a:ext>
            </a:extLst>
          </p:cNvPr>
          <p:cNvSpPr>
            <a:spLocks noGrp="1"/>
          </p:cNvSpPr>
          <p:nvPr/>
        </p:nvSpPr>
        <p:spPr>
          <a:xfrm>
            <a:off x="7181850" y="3467099"/>
            <a:ext cx="704850" cy="2857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79A278-6229-48A1-9976-BC5D08B368E0}"/>
              </a:ext>
            </a:extLst>
          </p:cNvPr>
          <p:cNvSpPr>
            <a:spLocks noGrp="1"/>
          </p:cNvSpPr>
          <p:nvPr/>
        </p:nvSpPr>
        <p:spPr>
          <a:xfrm>
            <a:off x="3381375" y="334127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33" lnSpcReduction="20000"/>
          </a:bodyPr>
          <a:lstStyle/>
          <a:p>
            <a:pPr algn="ctr">
              <a:defRPr sz="1875" b="1">
                <a:solidFill>
                  <a:srgbClr val="F45B7A"/>
                </a:solidFill>
              </a:defRPr>
            </a:pPr>
            <a:r>
              <a:rPr sz="1875" b="1" dirty="0">
                <a:solidFill>
                  <a:srgbClr val="F45B7A"/>
                </a:solidFill>
              </a:rPr>
              <a:t>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7E527E-010E-46F3-9DEA-287463712923}"/>
              </a:ext>
            </a:extLst>
          </p:cNvPr>
          <p:cNvSpPr>
            <a:spLocks noGrp="1"/>
          </p:cNvSpPr>
          <p:nvPr/>
        </p:nvSpPr>
        <p:spPr>
          <a:xfrm>
            <a:off x="7334250" y="334127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33" lnSpcReduction="20000"/>
          </a:bodyPr>
          <a:lstStyle/>
          <a:p>
            <a:pPr algn="ctr">
              <a:defRPr sz="1875" b="1">
                <a:solidFill>
                  <a:srgbClr val="F45B7A"/>
                </a:solidFill>
              </a:defRPr>
            </a:pPr>
            <a:r>
              <a:rPr sz="1875" b="1">
                <a:solidFill>
                  <a:srgbClr val="F45B7A"/>
                </a:solidFill>
              </a:rPr>
              <a:t>&gt;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58B7027-2D60-40FB-B5DB-A9E4275901A9}"/>
              </a:ext>
            </a:extLst>
          </p:cNvPr>
          <p:cNvSpPr>
            <a:spLocks noGrp="1"/>
          </p:cNvSpPr>
          <p:nvPr/>
        </p:nvSpPr>
        <p:spPr>
          <a:xfrm>
            <a:off x="495300" y="2819399"/>
            <a:ext cx="2724150" cy="1381125"/>
          </a:xfrm>
          <a:prstGeom prst="roundRect">
            <a:avLst>
              <a:gd name="adj" fmla="val 5517"/>
            </a:avLst>
          </a:prstGeom>
          <a:solidFill>
            <a:srgbClr val="FCE8ED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BABBC9-2FFA-4086-8DCE-762CCD4A35C6}"/>
              </a:ext>
            </a:extLst>
          </p:cNvPr>
          <p:cNvSpPr>
            <a:spLocks noGrp="1"/>
          </p:cNvSpPr>
          <p:nvPr/>
        </p:nvSpPr>
        <p:spPr>
          <a:xfrm>
            <a:off x="666750" y="2971799"/>
            <a:ext cx="323850" cy="38100"/>
          </a:xfrm>
          <a:prstGeom prst="rect">
            <a:avLst/>
          </a:prstGeom>
          <a:solidFill>
            <a:srgbClr val="F45B7A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375BCD-7485-4338-9912-199FC48384D2}"/>
              </a:ext>
            </a:extLst>
          </p:cNvPr>
          <p:cNvSpPr>
            <a:spLocks noGrp="1"/>
          </p:cNvSpPr>
          <p:nvPr/>
        </p:nvSpPr>
        <p:spPr>
          <a:xfrm>
            <a:off x="666750" y="3184359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600" b="1" dirty="0">
                <a:solidFill>
                  <a:srgbClr val="101014"/>
                </a:solidFill>
              </a:rPr>
              <a:t>CHAT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0DBE77-EB04-4BBA-990F-0D08696F625C}"/>
              </a:ext>
            </a:extLst>
          </p:cNvPr>
          <p:cNvSpPr>
            <a:spLocks noGrp="1"/>
          </p:cNvSpPr>
          <p:nvPr/>
        </p:nvSpPr>
        <p:spPr>
          <a:xfrm>
            <a:off x="666750" y="3508209"/>
            <a:ext cx="23812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75" b="0">
                <a:solidFill>
                  <a:srgbClr val="5D626D"/>
                </a:solidFill>
              </a:defRPr>
            </a:pPr>
            <a:r>
              <a:rPr sz="1200" b="0" dirty="0">
                <a:solidFill>
                  <a:srgbClr val="5D626D"/>
                </a:solidFill>
              </a:rPr>
              <a:t>Fast chat is noisy. Quiet chat provides too little signal.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512D893-C5C5-4EF5-9BF8-F46CFCE189D4}"/>
              </a:ext>
            </a:extLst>
          </p:cNvPr>
          <p:cNvSpPr>
            <a:spLocks noGrp="1"/>
          </p:cNvSpPr>
          <p:nvPr/>
        </p:nvSpPr>
        <p:spPr>
          <a:xfrm>
            <a:off x="3943350" y="2819399"/>
            <a:ext cx="3219450" cy="1381125"/>
          </a:xfrm>
          <a:prstGeom prst="roundRect">
            <a:avLst>
              <a:gd name="adj" fmla="val 5517"/>
            </a:avLst>
          </a:prstGeom>
          <a:solidFill>
            <a:srgbClr val="F6F7F9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562FC9-2DE6-41DA-8D0F-25912DA557D6}"/>
              </a:ext>
            </a:extLst>
          </p:cNvPr>
          <p:cNvSpPr>
            <a:spLocks noGrp="1"/>
          </p:cNvSpPr>
          <p:nvPr/>
        </p:nvSpPr>
        <p:spPr>
          <a:xfrm>
            <a:off x="4114800" y="2971799"/>
            <a:ext cx="323850" cy="38100"/>
          </a:xfrm>
          <a:prstGeom prst="rect">
            <a:avLst/>
          </a:prstGeom>
          <a:solidFill>
            <a:srgbClr val="F3A33C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27A82D-DCF5-434D-92C5-3DA326DA6DD7}"/>
              </a:ext>
            </a:extLst>
          </p:cNvPr>
          <p:cNvSpPr>
            <a:spLocks noGrp="1"/>
          </p:cNvSpPr>
          <p:nvPr/>
        </p:nvSpPr>
        <p:spPr>
          <a:xfrm>
            <a:off x="4114800" y="3184359"/>
            <a:ext cx="2876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600" b="1">
                <a:solidFill>
                  <a:srgbClr val="101014"/>
                </a:solidFill>
              </a:rPr>
              <a:t>MANUAL WORK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003773-511B-424C-8924-40B277BA1174}"/>
              </a:ext>
            </a:extLst>
          </p:cNvPr>
          <p:cNvSpPr>
            <a:spLocks noGrp="1"/>
          </p:cNvSpPr>
          <p:nvPr/>
        </p:nvSpPr>
        <p:spPr>
          <a:xfrm>
            <a:off x="4114800" y="3508209"/>
            <a:ext cx="28765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75" b="0">
                <a:solidFill>
                  <a:srgbClr val="5D626D"/>
                </a:solidFill>
              </a:defRPr>
            </a:pPr>
            <a:r>
              <a:rPr sz="1200" b="0">
                <a:solidFill>
                  <a:srgbClr val="5D626D"/>
                </a:solidFill>
              </a:rPr>
              <a:t>Read, interpret, moderate, invent a poll, and operate controls while playing.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F9797F4-680E-4B55-9BB2-453F17040CF0}"/>
              </a:ext>
            </a:extLst>
          </p:cNvPr>
          <p:cNvSpPr>
            <a:spLocks noGrp="1"/>
          </p:cNvSpPr>
          <p:nvPr/>
        </p:nvSpPr>
        <p:spPr>
          <a:xfrm>
            <a:off x="7905750" y="2819399"/>
            <a:ext cx="3790950" cy="1381125"/>
          </a:xfrm>
          <a:prstGeom prst="roundRect">
            <a:avLst>
              <a:gd name="adj" fmla="val 5517"/>
            </a:avLst>
          </a:prstGeom>
          <a:solidFill>
            <a:srgbClr val="EEEAFE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29FF70-698F-408E-A179-E4E90BDEBC43}"/>
              </a:ext>
            </a:extLst>
          </p:cNvPr>
          <p:cNvSpPr>
            <a:spLocks noGrp="1"/>
          </p:cNvSpPr>
          <p:nvPr/>
        </p:nvSpPr>
        <p:spPr>
          <a:xfrm>
            <a:off x="8077200" y="2971799"/>
            <a:ext cx="323850" cy="38100"/>
          </a:xfrm>
          <a:prstGeom prst="rect">
            <a:avLst/>
          </a:prstGeom>
          <a:solidFill>
            <a:srgbClr val="7657F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76252-DB43-4576-89B1-92861DE14FCB}"/>
              </a:ext>
            </a:extLst>
          </p:cNvPr>
          <p:cNvSpPr>
            <a:spLocks noGrp="1"/>
          </p:cNvSpPr>
          <p:nvPr/>
        </p:nvSpPr>
        <p:spPr>
          <a:xfrm>
            <a:off x="8077200" y="3184359"/>
            <a:ext cx="3448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600" b="1">
                <a:solidFill>
                  <a:srgbClr val="101014"/>
                </a:solidFill>
              </a:rPr>
              <a:t>STREAMER FATIGUE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0EFB04-7A7B-4B83-8195-B97867BD432D}"/>
              </a:ext>
            </a:extLst>
          </p:cNvPr>
          <p:cNvSpPr>
            <a:spLocks noGrp="1"/>
          </p:cNvSpPr>
          <p:nvPr/>
        </p:nvSpPr>
        <p:spPr>
          <a:xfrm>
            <a:off x="8077200" y="3508209"/>
            <a:ext cx="34480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75" b="0">
                <a:solidFill>
                  <a:srgbClr val="5D626D"/>
                </a:solidFill>
              </a:defRPr>
            </a:pPr>
            <a:r>
              <a:rPr sz="1200" b="0">
                <a:solidFill>
                  <a:srgbClr val="5D626D"/>
                </a:solidFill>
              </a:rPr>
              <a:t>Gameplay is interrupted and engagement becomes inconsistent or repetitive.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EDFFA4-BBFF-49D3-82DE-E7BF3DABA927}"/>
              </a:ext>
            </a:extLst>
          </p:cNvPr>
          <p:cNvSpPr>
            <a:spLocks noGrp="1"/>
          </p:cNvSpPr>
          <p:nvPr/>
        </p:nvSpPr>
        <p:spPr>
          <a:xfrm>
            <a:off x="495299" y="4524374"/>
            <a:ext cx="6049880" cy="13355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027"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500" b="1">
                <a:solidFill>
                  <a:srgbClr val="101014"/>
                </a:solidFill>
              </a:defRPr>
            </a:pPr>
            <a:r>
              <a:rPr sz="1500" b="1" dirty="0">
                <a:solidFill>
                  <a:srgbClr val="101014"/>
                </a:solidFill>
              </a:rPr>
              <a:t>Viewers comment, but rarely influence the next playable moment.</a:t>
            </a:r>
            <a:endParaRPr lang="en-US" sz="1500" b="1" dirty="0">
              <a:solidFill>
                <a:srgbClr val="10101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500" b="1">
                <a:solidFill>
                  <a:srgbClr val="101014"/>
                </a:solidFill>
              </a:defRPr>
            </a:pPr>
            <a:r>
              <a:rPr lang="en-SG" sz="1500" b="1" dirty="0">
                <a:solidFill>
                  <a:srgbClr val="101014"/>
                </a:solidFill>
              </a:rPr>
              <a:t>Generic polls ignore game state, audience mood, and streamer boundaries.</a:t>
            </a:r>
            <a:r>
              <a:rPr lang="en-SG" sz="1500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  <a:defRPr sz="1500" b="1">
                <a:solidFill>
                  <a:srgbClr val="101014"/>
                </a:solidFill>
              </a:defRPr>
            </a:pPr>
            <a:r>
              <a:rPr lang="en-SG" sz="1500" b="1" dirty="0"/>
              <a:t>Existing polls and chat tools are generic and are disconnected from game state</a:t>
            </a:r>
          </a:p>
          <a:p>
            <a:pPr marL="285750" indent="-285750">
              <a:buFont typeface="Arial" panose="020B0604020202020204" pitchFamily="34" charset="0"/>
              <a:buChar char="•"/>
              <a:defRPr sz="1500" b="1">
                <a:solidFill>
                  <a:srgbClr val="101014"/>
                </a:solidFill>
              </a:defRPr>
            </a:pPr>
            <a:r>
              <a:rPr lang="en-SG" sz="1500" b="1" dirty="0"/>
              <a:t>Manual management of viewer engagement while playing is a challenge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1">
                <a:solidFill>
                  <a:srgbClr val="101014"/>
                </a:solidFill>
              </a:defRPr>
            </a:pPr>
            <a:endParaRPr sz="1500" b="1" dirty="0">
              <a:solidFill>
                <a:srgbClr val="101014"/>
              </a:solidFill>
            </a:endParaRPr>
          </a:p>
        </p:txBody>
      </p:sp>
      <p:sp>
        <p:nvSpPr>
          <p:cNvPr id="23" name="slide-3-evidence">
            <a:extLst>
              <a:ext uri="{FF2B5EF4-FFF2-40B4-BE49-F238E27FC236}">
                <a16:creationId xmlns:a16="http://schemas.microsoft.com/office/drawing/2014/main" id="{B18238A6-6A4F-4F96-A6D6-F9649CC8698F}"/>
              </a:ext>
            </a:extLst>
          </p:cNvPr>
          <p:cNvSpPr>
            <a:spLocks noGrp="1"/>
          </p:cNvSpPr>
          <p:nvPr/>
        </p:nvSpPr>
        <p:spPr>
          <a:xfrm>
            <a:off x="495300" y="6029325"/>
            <a:ext cx="1057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825" b="0">
                <a:solidFill>
                  <a:srgbClr val="5D626D"/>
                </a:solidFill>
              </a:defRPr>
            </a:pPr>
            <a:r>
              <a:rPr sz="825" b="0">
                <a:solidFill>
                  <a:srgbClr val="5D626D"/>
                </a:solidFill>
              </a:rPr>
              <a:t>Problem statement: poor engagement plus manual conversion creates streamer burden.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381C10-3343-4273-B9A7-2A1843597319}"/>
              </a:ext>
            </a:extLst>
          </p:cNvPr>
          <p:cNvSpPr>
            <a:spLocks noGrp="1"/>
          </p:cNvSpPr>
          <p:nvPr/>
        </p:nvSpPr>
        <p:spPr>
          <a:xfrm>
            <a:off x="495300" y="6343650"/>
            <a:ext cx="1120140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25" name="slide-3-repo">
            <a:extLst>
              <a:ext uri="{FF2B5EF4-FFF2-40B4-BE49-F238E27FC236}">
                <a16:creationId xmlns:a16="http://schemas.microsoft.com/office/drawing/2014/main" id="{F816AEF4-C337-4F73-B3F8-737D4C9BD9ED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l">
              <a:defRPr sz="750" b="0">
                <a:solidFill>
                  <a:srgbClr val="5D626D"/>
                </a:solidFill>
              </a:defRPr>
            </a:pPr>
            <a:r>
              <a:rPr sz="750" b="0">
                <a:solidFill>
                  <a:srgbClr val="5D626D"/>
                </a:solidFill>
              </a:rPr>
              <a:t>REPO LENS  docs/PRODUCT_BRIEF.md  |  docs/research/PRODUCT-VALIDATION.md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F2FFC5-7384-4538-8BC6-F6441F8B334C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r">
              <a:defRPr sz="750" b="1">
                <a:solidFill>
                  <a:srgbClr val="5D626D"/>
                </a:solidFill>
              </a:defRPr>
            </a:pPr>
            <a:r>
              <a:rPr sz="750" b="1">
                <a:solidFill>
                  <a:srgbClr val="5D626D"/>
                </a:solidFill>
              </a:rPr>
              <a:t>03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CEC6B5-AFA7-B984-B25E-122B2D6CF935}"/>
              </a:ext>
            </a:extLst>
          </p:cNvPr>
          <p:cNvSpPr txBox="1"/>
          <p:nvPr/>
        </p:nvSpPr>
        <p:spPr>
          <a:xfrm>
            <a:off x="7734300" y="4524374"/>
            <a:ext cx="36555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b="1" dirty="0"/>
              <a:t>Audience ideas get buried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b="1" dirty="0"/>
              <a:t>Content becomes repetitive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b="1" dirty="0"/>
              <a:t>Smaller creators lose chances to build loyal communities.</a:t>
            </a:r>
            <a:endParaRPr lang="en-SG" b="1" dirty="0">
              <a:solidFill>
                <a:srgbClr val="101014"/>
              </a:solidFill>
            </a:endParaRPr>
          </a:p>
          <a:p>
            <a:endParaRPr lang="en-US" dirty="0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C2C30F78-B6AF-9256-30DB-3AE48882757C}"/>
              </a:ext>
            </a:extLst>
          </p:cNvPr>
          <p:cNvSpPr/>
          <p:nvPr/>
        </p:nvSpPr>
        <p:spPr>
          <a:xfrm>
            <a:off x="6787063" y="4932445"/>
            <a:ext cx="772528" cy="3248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47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4-title">
            <a:extLst>
              <a:ext uri="{FF2B5EF4-FFF2-40B4-BE49-F238E27FC236}">
                <a16:creationId xmlns:a16="http://schemas.microsoft.com/office/drawing/2014/main" id="{CFE571B2-81F5-4AE8-AED2-2025D9277737}"/>
              </a:ext>
            </a:extLst>
          </p:cNvPr>
          <p:cNvSpPr>
            <a:spLocks noGrp="1"/>
          </p:cNvSpPr>
          <p:nvPr/>
        </p:nvSpPr>
        <p:spPr>
          <a:xfrm>
            <a:off x="495300" y="381000"/>
            <a:ext cx="9334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861"/>
          </a:bodyPr>
          <a:lstStyle/>
          <a:p>
            <a:pPr algn="l">
              <a:defRPr sz="3000" b="1">
                <a:solidFill>
                  <a:srgbClr val="101014"/>
                </a:solidFill>
              </a:defRPr>
            </a:pPr>
            <a:r>
              <a:rPr sz="3000" b="1">
                <a:solidFill>
                  <a:srgbClr val="101014"/>
                </a:solidFill>
              </a:rPr>
              <a:t>ChatXPT removes the manual burden, one step at a time</a:t>
            </a:r>
          </a:p>
        </p:txBody>
      </p:sp>
      <p:sp>
        <p:nvSpPr>
          <p:cNvPr id="2" name="slide-4-section">
            <a:extLst>
              <a:ext uri="{FF2B5EF4-FFF2-40B4-BE49-F238E27FC236}">
                <a16:creationId xmlns:a16="http://schemas.microsoft.com/office/drawing/2014/main" id="{FC1E80D1-35EC-4C9E-8AFB-AF078DB9CE10}"/>
              </a:ext>
            </a:extLst>
          </p:cNvPr>
          <p:cNvSpPr>
            <a:spLocks noGrp="1"/>
          </p:cNvSpPr>
          <p:nvPr/>
        </p:nvSpPr>
        <p:spPr>
          <a:xfrm>
            <a:off x="10191750" y="447675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75" b="1">
                <a:solidFill>
                  <a:srgbClr val="7657FF"/>
                </a:solidFill>
              </a:defRPr>
            </a:pPr>
            <a:r>
              <a:rPr sz="975" b="1">
                <a:solidFill>
                  <a:srgbClr val="7657FF"/>
                </a:solidFill>
              </a:rPr>
              <a:t>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9906F8-E8A4-4A15-BF5A-98CC03ECD7F1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F45B7A"/>
                </a:solidFill>
              </a:defRPr>
            </a:pPr>
            <a:r>
              <a:rPr sz="900" b="1">
                <a:solidFill>
                  <a:srgbClr val="F45B7A"/>
                </a:solidFill>
              </a:rPr>
              <a:t>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1002BA-E791-4703-B710-B9BACD2301A3}"/>
              </a:ext>
            </a:extLst>
          </p:cNvPr>
          <p:cNvSpPr>
            <a:spLocks noGrp="1"/>
          </p:cNvSpPr>
          <p:nvPr/>
        </p:nvSpPr>
        <p:spPr>
          <a:xfrm>
            <a:off x="5715000" y="130492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7657FF"/>
                </a:solidFill>
              </a:defRPr>
            </a:pPr>
            <a:r>
              <a:rPr sz="900" b="1">
                <a:solidFill>
                  <a:srgbClr val="7657FF"/>
                </a:solidFill>
              </a:rPr>
              <a:t>PROPOSED SOLUTION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A7DE74-36AC-4C32-86D0-A90B1D5FC484}"/>
              </a:ext>
            </a:extLst>
          </p:cNvPr>
          <p:cNvSpPr>
            <a:spLocks noGrp="1"/>
          </p:cNvSpPr>
          <p:nvPr/>
        </p:nvSpPr>
        <p:spPr>
          <a:xfrm>
            <a:off x="495300" y="2476500"/>
            <a:ext cx="1120140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09D265-D02B-4081-9802-E7E17A2463AD}"/>
              </a:ext>
            </a:extLst>
          </p:cNvPr>
          <p:cNvSpPr>
            <a:spLocks noGrp="1"/>
          </p:cNvSpPr>
          <p:nvPr/>
        </p:nvSpPr>
        <p:spPr>
          <a:xfrm>
            <a:off x="495300" y="1724025"/>
            <a:ext cx="428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F45B7A"/>
                </a:solidFill>
              </a:defRPr>
            </a:pPr>
            <a:r>
              <a:rPr sz="1350" b="1">
                <a:solidFill>
                  <a:srgbClr val="F45B7A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B846F7-BD11-4F70-807A-3AA825B4FDFA}"/>
              </a:ext>
            </a:extLst>
          </p:cNvPr>
          <p:cNvSpPr>
            <a:spLocks noGrp="1"/>
          </p:cNvSpPr>
          <p:nvPr/>
        </p:nvSpPr>
        <p:spPr>
          <a:xfrm>
            <a:off x="1047750" y="1695450"/>
            <a:ext cx="3857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101014"/>
                </a:solidFill>
              </a:defRPr>
            </a:pPr>
            <a:r>
              <a:rPr sz="1500" b="1">
                <a:solidFill>
                  <a:srgbClr val="101014"/>
                </a:solidFill>
              </a:rPr>
              <a:t>Noisy or weak chat signals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521FFF-0BC9-4179-8A04-AE4ED4437C2C}"/>
              </a:ext>
            </a:extLst>
          </p:cNvPr>
          <p:cNvSpPr>
            <a:spLocks noGrp="1"/>
          </p:cNvSpPr>
          <p:nvPr/>
        </p:nvSpPr>
        <p:spPr>
          <a:xfrm>
            <a:off x="5048250" y="17430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33" lnSpcReduction="20000"/>
          </a:bodyPr>
          <a:lstStyle/>
          <a:p>
            <a:pPr algn="ctr">
              <a:defRPr sz="1875" b="1">
                <a:solidFill>
                  <a:srgbClr val="7657FF"/>
                </a:solidFill>
              </a:defRPr>
            </a:pPr>
            <a:r>
              <a:rPr sz="1875" b="1">
                <a:solidFill>
                  <a:srgbClr val="7657FF"/>
                </a:solidFill>
              </a:rPr>
              <a:t>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01D822-0E86-480C-A5D8-280244156A43}"/>
              </a:ext>
            </a:extLst>
          </p:cNvPr>
          <p:cNvSpPr>
            <a:spLocks noGrp="1"/>
          </p:cNvSpPr>
          <p:nvPr/>
        </p:nvSpPr>
        <p:spPr>
          <a:xfrm>
            <a:off x="5715000" y="1695450"/>
            <a:ext cx="58102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26D"/>
                </a:solidFill>
              </a:defRPr>
            </a:pPr>
            <a:r>
              <a:rPr sz="1350" b="0">
                <a:solidFill>
                  <a:srgbClr val="5D626D"/>
                </a:solidFill>
              </a:rPr>
              <a:t>Separate gameplay, audience, and streamer-profile inputs become one usable context.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F07AF2-96CD-44A3-900D-D03242B7F929}"/>
              </a:ext>
            </a:extLst>
          </p:cNvPr>
          <p:cNvSpPr>
            <a:spLocks noGrp="1"/>
          </p:cNvSpPr>
          <p:nvPr/>
        </p:nvSpPr>
        <p:spPr>
          <a:xfrm>
            <a:off x="495300" y="3429000"/>
            <a:ext cx="1120140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048969-0C59-4AB8-857A-505C0101CC98}"/>
              </a:ext>
            </a:extLst>
          </p:cNvPr>
          <p:cNvSpPr>
            <a:spLocks noGrp="1"/>
          </p:cNvSpPr>
          <p:nvPr/>
        </p:nvSpPr>
        <p:spPr>
          <a:xfrm>
            <a:off x="495300" y="2676525"/>
            <a:ext cx="428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F45B7A"/>
                </a:solidFill>
              </a:defRPr>
            </a:pPr>
            <a:r>
              <a:rPr sz="1350" b="1">
                <a:solidFill>
                  <a:srgbClr val="F45B7A"/>
                </a:solidFill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5852FB-4F1D-4CBB-8228-83922328E5A4}"/>
              </a:ext>
            </a:extLst>
          </p:cNvPr>
          <p:cNvSpPr>
            <a:spLocks noGrp="1"/>
          </p:cNvSpPr>
          <p:nvPr/>
        </p:nvSpPr>
        <p:spPr>
          <a:xfrm>
            <a:off x="1047750" y="2647950"/>
            <a:ext cx="3857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101014"/>
                </a:solidFill>
              </a:defRPr>
            </a:pPr>
            <a:r>
              <a:rPr sz="1500" b="1">
                <a:solidFill>
                  <a:srgbClr val="101014"/>
                </a:solidFill>
              </a:rPr>
              <a:t>Streamer must invent engagement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8AB183-1CC1-44AB-9D72-03E3236F7A94}"/>
              </a:ext>
            </a:extLst>
          </p:cNvPr>
          <p:cNvSpPr>
            <a:spLocks noGrp="1"/>
          </p:cNvSpPr>
          <p:nvPr/>
        </p:nvSpPr>
        <p:spPr>
          <a:xfrm>
            <a:off x="5048250" y="26955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33" lnSpcReduction="20000"/>
          </a:bodyPr>
          <a:lstStyle/>
          <a:p>
            <a:pPr algn="ctr">
              <a:defRPr sz="1875" b="1">
                <a:solidFill>
                  <a:srgbClr val="7657FF"/>
                </a:solidFill>
              </a:defRPr>
            </a:pPr>
            <a:r>
              <a:rPr sz="1875" b="1">
                <a:solidFill>
                  <a:srgbClr val="7657FF"/>
                </a:solidFill>
              </a:rPr>
              <a:t>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616E1F-864A-4E6A-B971-A45AB2A8F722}"/>
              </a:ext>
            </a:extLst>
          </p:cNvPr>
          <p:cNvSpPr>
            <a:spLocks noGrp="1"/>
          </p:cNvSpPr>
          <p:nvPr/>
        </p:nvSpPr>
        <p:spPr>
          <a:xfrm>
            <a:off x="5715000" y="2647950"/>
            <a:ext cx="58102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26D"/>
                </a:solidFill>
              </a:defRPr>
            </a:pPr>
            <a:r>
              <a:rPr sz="1350" b="0">
                <a:solidFill>
                  <a:srgbClr val="5D626D"/>
                </a:solidFill>
              </a:rPr>
              <a:t>AI-ready intelligence produces exactly three distinct, vote-ready sidequests.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833195-918C-4352-BF66-0B0160709BEA}"/>
              </a:ext>
            </a:extLst>
          </p:cNvPr>
          <p:cNvSpPr>
            <a:spLocks noGrp="1"/>
          </p:cNvSpPr>
          <p:nvPr/>
        </p:nvSpPr>
        <p:spPr>
          <a:xfrm>
            <a:off x="495300" y="4381500"/>
            <a:ext cx="1120140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A12CDB-DA1C-4E9D-9DC0-ABF0B5353FE4}"/>
              </a:ext>
            </a:extLst>
          </p:cNvPr>
          <p:cNvSpPr>
            <a:spLocks noGrp="1"/>
          </p:cNvSpPr>
          <p:nvPr/>
        </p:nvSpPr>
        <p:spPr>
          <a:xfrm>
            <a:off x="495300" y="3629025"/>
            <a:ext cx="428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F45B7A"/>
                </a:solidFill>
              </a:defRPr>
            </a:pPr>
            <a:r>
              <a:rPr sz="1350" b="1">
                <a:solidFill>
                  <a:srgbClr val="F45B7A"/>
                </a:solidFill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C478ED-C32D-42D0-8476-7EBD939DDE96}"/>
              </a:ext>
            </a:extLst>
          </p:cNvPr>
          <p:cNvSpPr>
            <a:spLocks noGrp="1"/>
          </p:cNvSpPr>
          <p:nvPr/>
        </p:nvSpPr>
        <p:spPr>
          <a:xfrm>
            <a:off x="1047750" y="3600450"/>
            <a:ext cx="3857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101014"/>
                </a:solidFill>
              </a:defRPr>
            </a:pPr>
            <a:r>
              <a:rPr sz="1500" b="1">
                <a:solidFill>
                  <a:srgbClr val="101014"/>
                </a:solidFill>
              </a:rPr>
              <a:t>Manual prompts can be unsafe or disruptive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BA7157-58EC-4579-886B-3DFBF1135DE1}"/>
              </a:ext>
            </a:extLst>
          </p:cNvPr>
          <p:cNvSpPr>
            <a:spLocks noGrp="1"/>
          </p:cNvSpPr>
          <p:nvPr/>
        </p:nvSpPr>
        <p:spPr>
          <a:xfrm>
            <a:off x="5048250" y="36480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33" lnSpcReduction="20000"/>
          </a:bodyPr>
          <a:lstStyle/>
          <a:p>
            <a:pPr algn="ctr">
              <a:defRPr sz="1875" b="1">
                <a:solidFill>
                  <a:srgbClr val="7657FF"/>
                </a:solidFill>
              </a:defRPr>
            </a:pPr>
            <a:r>
              <a:rPr sz="1875" b="1">
                <a:solidFill>
                  <a:srgbClr val="7657FF"/>
                </a:solidFill>
              </a:rPr>
              <a:t>&gt;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239D35-F42F-4C22-BDF7-B52B458EB172}"/>
              </a:ext>
            </a:extLst>
          </p:cNvPr>
          <p:cNvSpPr>
            <a:spLocks noGrp="1"/>
          </p:cNvSpPr>
          <p:nvPr/>
        </p:nvSpPr>
        <p:spPr>
          <a:xfrm>
            <a:off x="5715000" y="3600450"/>
            <a:ext cx="58102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26D"/>
                </a:solidFill>
              </a:defRPr>
            </a:pPr>
            <a:r>
              <a:rPr sz="1350" b="0">
                <a:solidFill>
                  <a:srgbClr val="5D626D"/>
                </a:solidFill>
              </a:rPr>
              <a:t>Deterministic rules enforce safety, feasibility, timing, diversity, and veto boundaries.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45A26B-BED3-45E4-AD38-F8BF3EE43186}"/>
              </a:ext>
            </a:extLst>
          </p:cNvPr>
          <p:cNvSpPr>
            <a:spLocks noGrp="1"/>
          </p:cNvSpPr>
          <p:nvPr/>
        </p:nvSpPr>
        <p:spPr>
          <a:xfrm>
            <a:off x="495300" y="5334000"/>
            <a:ext cx="1120140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081147-CE55-489C-B5C4-1E9245CAFA93}"/>
              </a:ext>
            </a:extLst>
          </p:cNvPr>
          <p:cNvSpPr>
            <a:spLocks noGrp="1"/>
          </p:cNvSpPr>
          <p:nvPr/>
        </p:nvSpPr>
        <p:spPr>
          <a:xfrm>
            <a:off x="495300" y="4581525"/>
            <a:ext cx="428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F45B7A"/>
                </a:solidFill>
              </a:defRPr>
            </a:pPr>
            <a:r>
              <a:rPr sz="1350" b="1">
                <a:solidFill>
                  <a:srgbClr val="F45B7A"/>
                </a:solidFill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5A95A1-D236-4559-850E-99030BB9A188}"/>
              </a:ext>
            </a:extLst>
          </p:cNvPr>
          <p:cNvSpPr>
            <a:spLocks noGrp="1"/>
          </p:cNvSpPr>
          <p:nvPr/>
        </p:nvSpPr>
        <p:spPr>
          <a:xfrm>
            <a:off x="1047750" y="4552950"/>
            <a:ext cx="3857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101014"/>
                </a:solidFill>
              </a:defRPr>
            </a:pPr>
            <a:r>
              <a:rPr sz="1500" b="1">
                <a:solidFill>
                  <a:srgbClr val="101014"/>
                </a:solidFill>
              </a:rPr>
              <a:t>Viewer input disappears into chat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587AC4-1E73-4D23-935A-D39132D3F7F6}"/>
              </a:ext>
            </a:extLst>
          </p:cNvPr>
          <p:cNvSpPr>
            <a:spLocks noGrp="1"/>
          </p:cNvSpPr>
          <p:nvPr/>
        </p:nvSpPr>
        <p:spPr>
          <a:xfrm>
            <a:off x="5048250" y="46005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33" lnSpcReduction="20000"/>
          </a:bodyPr>
          <a:lstStyle/>
          <a:p>
            <a:pPr algn="ctr">
              <a:defRPr sz="1875" b="1">
                <a:solidFill>
                  <a:srgbClr val="7657FF"/>
                </a:solidFill>
              </a:defRPr>
            </a:pPr>
            <a:r>
              <a:rPr sz="1875" b="1">
                <a:solidFill>
                  <a:srgbClr val="7657FF"/>
                </a:solidFill>
              </a:rPr>
              <a:t>&gt;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CBE132-0144-4921-8A51-A2ADBDCF6B0D}"/>
              </a:ext>
            </a:extLst>
          </p:cNvPr>
          <p:cNvSpPr>
            <a:spLocks noGrp="1"/>
          </p:cNvSpPr>
          <p:nvPr/>
        </p:nvSpPr>
        <p:spPr>
          <a:xfrm>
            <a:off x="5715000" y="4552950"/>
            <a:ext cx="58102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26D"/>
                </a:solidFill>
              </a:defRPr>
            </a:pPr>
            <a:r>
              <a:rPr sz="1350" b="0">
                <a:solidFill>
                  <a:srgbClr val="5D626D"/>
                </a:solidFill>
              </a:rPr>
              <a:t>Twitch voting selects a winner; OBS shows it; progress and outcome return to the session.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0851FCC-A34F-4EE5-B07F-15D40EAC0E01}"/>
              </a:ext>
            </a:extLst>
          </p:cNvPr>
          <p:cNvSpPr>
            <a:spLocks noGrp="1"/>
          </p:cNvSpPr>
          <p:nvPr/>
        </p:nvSpPr>
        <p:spPr>
          <a:xfrm>
            <a:off x="495300" y="5524500"/>
            <a:ext cx="11201400" cy="381000"/>
          </a:xfrm>
          <a:prstGeom prst="roundRect">
            <a:avLst>
              <a:gd name="adj" fmla="val 20000"/>
            </a:avLst>
          </a:prstGeom>
          <a:solidFill>
            <a:srgbClr val="0D0B14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A04869-80E4-4EE0-8801-78BF1D674D00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 lnSpcReduction="10000"/>
          </a:bodyPr>
          <a:lstStyle/>
          <a:p>
            <a:pPr algn="ctr">
              <a:defRPr sz="1050" b="1">
                <a:solidFill>
                  <a:srgbClr val="C9F53B"/>
                </a:solidFill>
              </a:defRPr>
            </a:pPr>
            <a:r>
              <a:rPr sz="1050" b="1">
                <a:solidFill>
                  <a:srgbClr val="C9F53B"/>
                </a:solidFill>
              </a:rPr>
              <a:t>Observe  &gt;  understand  &gt;  propose three  &gt;  validate  &gt;  vote  &gt;  activate  &gt;  resolve  &gt;  learn</a:t>
            </a:r>
          </a:p>
        </p:txBody>
      </p:sp>
      <p:sp>
        <p:nvSpPr>
          <p:cNvPr id="27" name="slide-4-evidence">
            <a:extLst>
              <a:ext uri="{FF2B5EF4-FFF2-40B4-BE49-F238E27FC236}">
                <a16:creationId xmlns:a16="http://schemas.microsoft.com/office/drawing/2014/main" id="{57C481AB-76CF-45AA-B0E1-22D73BC8FF50}"/>
              </a:ext>
            </a:extLst>
          </p:cNvPr>
          <p:cNvSpPr>
            <a:spLocks noGrp="1"/>
          </p:cNvSpPr>
          <p:nvPr/>
        </p:nvSpPr>
        <p:spPr>
          <a:xfrm>
            <a:off x="495300" y="6029325"/>
            <a:ext cx="1057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825" b="0">
                <a:solidFill>
                  <a:srgbClr val="5D626D"/>
                </a:solidFill>
              </a:defRPr>
            </a:pPr>
            <a:r>
              <a:rPr sz="825" b="0">
                <a:solidFill>
                  <a:srgbClr val="5D626D"/>
                </a:solidFill>
              </a:rPr>
              <a:t>Solution mapping: each product mechanism resolves a stated burden from slide 3.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92D1F3-8FB6-4C35-892A-9D446C6B67D2}"/>
              </a:ext>
            </a:extLst>
          </p:cNvPr>
          <p:cNvSpPr>
            <a:spLocks noGrp="1"/>
          </p:cNvSpPr>
          <p:nvPr/>
        </p:nvSpPr>
        <p:spPr>
          <a:xfrm>
            <a:off x="495300" y="6343650"/>
            <a:ext cx="1120140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29" name="slide-4-repo">
            <a:extLst>
              <a:ext uri="{FF2B5EF4-FFF2-40B4-BE49-F238E27FC236}">
                <a16:creationId xmlns:a16="http://schemas.microsoft.com/office/drawing/2014/main" id="{56702823-17AF-4FBF-B575-7AFE75CFBF75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l">
              <a:defRPr sz="750" b="0">
                <a:solidFill>
                  <a:srgbClr val="5D626D"/>
                </a:solidFill>
              </a:defRPr>
            </a:pPr>
            <a:r>
              <a:rPr sz="750" b="0">
                <a:solidFill>
                  <a:srgbClr val="5D626D"/>
                </a:solidFill>
              </a:rPr>
              <a:t>REPO LENS  src/core/  |  src/ai/  |  src/quest-engine/  |  src/viewer/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BD35526-D1F0-4113-A29B-C0490477F987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r">
              <a:defRPr sz="750" b="1">
                <a:solidFill>
                  <a:srgbClr val="5D626D"/>
                </a:solidFill>
              </a:defRPr>
            </a:pPr>
            <a:r>
              <a:rPr sz="750" b="1">
                <a:solidFill>
                  <a:srgbClr val="5D626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97125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5-title">
            <a:extLst>
              <a:ext uri="{FF2B5EF4-FFF2-40B4-BE49-F238E27FC236}">
                <a16:creationId xmlns:a16="http://schemas.microsoft.com/office/drawing/2014/main" id="{E6FEB9A9-ED79-42CB-A73F-DEBDCDDBA735}"/>
              </a:ext>
            </a:extLst>
          </p:cNvPr>
          <p:cNvSpPr>
            <a:spLocks noGrp="1"/>
          </p:cNvSpPr>
          <p:nvPr/>
        </p:nvSpPr>
        <p:spPr>
          <a:xfrm>
            <a:off x="495300" y="381000"/>
            <a:ext cx="9334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496"/>
          </a:bodyPr>
          <a:lstStyle/>
          <a:p>
            <a:pPr algn="l">
              <a:defRPr sz="3000" b="1">
                <a:solidFill>
                  <a:srgbClr val="101014"/>
                </a:solidFill>
              </a:defRPr>
            </a:pPr>
            <a:r>
              <a:rPr sz="3000" b="1">
                <a:solidFill>
                  <a:srgbClr val="101014"/>
                </a:solidFill>
              </a:rPr>
              <a:t>The MVP proves one complete path inside a larger product</a:t>
            </a:r>
          </a:p>
        </p:txBody>
      </p:sp>
      <p:sp>
        <p:nvSpPr>
          <p:cNvPr id="2" name="slide-5-section">
            <a:extLst>
              <a:ext uri="{FF2B5EF4-FFF2-40B4-BE49-F238E27FC236}">
                <a16:creationId xmlns:a16="http://schemas.microsoft.com/office/drawing/2014/main" id="{E566498E-5F53-40F3-968E-98E23AA2F422}"/>
              </a:ext>
            </a:extLst>
          </p:cNvPr>
          <p:cNvSpPr>
            <a:spLocks noGrp="1"/>
          </p:cNvSpPr>
          <p:nvPr/>
        </p:nvSpPr>
        <p:spPr>
          <a:xfrm>
            <a:off x="10191750" y="447675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75" b="1">
                <a:solidFill>
                  <a:srgbClr val="7657FF"/>
                </a:solidFill>
              </a:defRPr>
            </a:pPr>
            <a:r>
              <a:rPr sz="975" b="1">
                <a:solidFill>
                  <a:srgbClr val="7657FF"/>
                </a:solidFill>
              </a:rPr>
              <a:t>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F21F3C-EB99-46D1-9BE0-2F12B45FAD54}"/>
              </a:ext>
            </a:extLst>
          </p:cNvPr>
          <p:cNvSpPr>
            <a:spLocks noGrp="1"/>
          </p:cNvSpPr>
          <p:nvPr/>
        </p:nvSpPr>
        <p:spPr>
          <a:xfrm>
            <a:off x="495300" y="1323975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718" lnSpcReduction="10000"/>
          </a:bodyPr>
          <a:lstStyle/>
          <a:p>
            <a:pPr algn="l">
              <a:defRPr sz="975" b="1">
                <a:solidFill>
                  <a:srgbClr val="7657FF"/>
                </a:solidFill>
              </a:defRPr>
            </a:pPr>
            <a:r>
              <a:rPr sz="975" b="1">
                <a:solidFill>
                  <a:srgbClr val="7657FF"/>
                </a:solidFill>
              </a:rPr>
              <a:t>FULL CHATXPT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D8976A-A235-48D3-BCD7-10FCEEED7A06}"/>
              </a:ext>
            </a:extLst>
          </p:cNvPr>
          <p:cNvSpPr>
            <a:spLocks noGrp="1"/>
          </p:cNvSpPr>
          <p:nvPr/>
        </p:nvSpPr>
        <p:spPr>
          <a:xfrm>
            <a:off x="6191250" y="1323975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718" lnSpcReduction="10000"/>
          </a:bodyPr>
          <a:lstStyle/>
          <a:p>
            <a:pPr algn="l">
              <a:defRPr sz="975" b="1">
                <a:solidFill>
                  <a:srgbClr val="C9F53B"/>
                </a:solidFill>
              </a:defRPr>
            </a:pPr>
            <a:r>
              <a:rPr sz="975" b="1">
                <a:solidFill>
                  <a:srgbClr val="C9F53B"/>
                </a:solidFill>
              </a:rPr>
              <a:t>TWITCH-FIRST MVP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86FA3A2-2995-4276-B4A3-654A1CF292C2}"/>
              </a:ext>
            </a:extLst>
          </p:cNvPr>
          <p:cNvSpPr>
            <a:spLocks noGrp="1"/>
          </p:cNvSpPr>
          <p:nvPr/>
        </p:nvSpPr>
        <p:spPr>
          <a:xfrm>
            <a:off x="495300" y="1676400"/>
            <a:ext cx="5143500" cy="3209925"/>
          </a:xfrm>
          <a:prstGeom prst="roundRect">
            <a:avLst>
              <a:gd name="adj" fmla="val 2374"/>
            </a:avLst>
          </a:prstGeom>
          <a:solidFill>
            <a:srgbClr val="EEEAFE"/>
          </a:solidFill>
          <a:ln w="0">
            <a:noFill/>
            <a:prstDash val="solid"/>
          </a:ln>
        </p:spPr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93FB76C-3877-422C-B118-8682A69D8246}"/>
              </a:ext>
            </a:extLst>
          </p:cNvPr>
          <p:cNvSpPr>
            <a:spLocks noGrp="1"/>
          </p:cNvSpPr>
          <p:nvPr/>
        </p:nvSpPr>
        <p:spPr>
          <a:xfrm>
            <a:off x="6057900" y="1676400"/>
            <a:ext cx="5638800" cy="3209925"/>
          </a:xfrm>
          <a:prstGeom prst="roundRect">
            <a:avLst>
              <a:gd name="adj" fmla="val 2374"/>
            </a:avLst>
          </a:prstGeom>
          <a:solidFill>
            <a:srgbClr val="0D0B14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EEEA63-2BBC-4338-8F76-8B742CC2967C}"/>
              </a:ext>
            </a:extLst>
          </p:cNvPr>
          <p:cNvSpPr>
            <a:spLocks noGrp="1"/>
          </p:cNvSpPr>
          <p:nvPr/>
        </p:nvSpPr>
        <p:spPr>
          <a:xfrm>
            <a:off x="742950" y="1943100"/>
            <a:ext cx="4619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 lnSpcReduction="10000"/>
          </a:bodyPr>
          <a:lstStyle/>
          <a:p>
            <a:pPr algn="l">
              <a:defRPr sz="1800" b="1">
                <a:solidFill>
                  <a:srgbClr val="101014"/>
                </a:solidFill>
              </a:defRPr>
            </a:pPr>
            <a:r>
              <a:rPr sz="1800" b="1">
                <a:solidFill>
                  <a:srgbClr val="101014"/>
                </a:solidFill>
              </a:rPr>
              <a:t>Cross-platform AI stream director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6B69D4-0C84-41F3-9123-7D1484A607B4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442912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26D"/>
                </a:solidFill>
              </a:defRPr>
            </a:pPr>
            <a:r>
              <a:rPr sz="1350" b="0">
                <a:solidFill>
                  <a:srgbClr val="5D626D"/>
                </a:solidFill>
              </a:rPr>
              <a:t>Persistent streamer and viewer profiles</a:t>
            </a:r>
          </a:p>
          <a:p>
            <a:pPr algn="l">
              <a:defRPr sz="1350" b="0">
                <a:solidFill>
                  <a:srgbClr val="5D626D"/>
                </a:solidFill>
              </a:defRPr>
            </a:pPr>
            <a:r>
              <a:rPr sz="1350" b="0">
                <a:solidFill>
                  <a:srgbClr val="5D626D"/>
                </a:solidFill>
              </a:rPr>
              <a:t>Multi-game intelligence and calibration</a:t>
            </a:r>
          </a:p>
          <a:p>
            <a:pPr algn="l">
              <a:defRPr sz="1350" b="0">
                <a:solidFill>
                  <a:srgbClr val="5D626D"/>
                </a:solidFill>
              </a:defRPr>
            </a:pPr>
            <a:r>
              <a:rPr sz="1350" b="0">
                <a:solidFill>
                  <a:srgbClr val="5D626D"/>
                </a:solidFill>
              </a:rPr>
              <a:t>Engagement analytics and adaptive timing</a:t>
            </a:r>
          </a:p>
          <a:p>
            <a:pPr algn="l">
              <a:defRPr sz="1350" b="0">
                <a:solidFill>
                  <a:srgbClr val="5D626D"/>
                </a:solidFill>
              </a:defRPr>
            </a:pPr>
            <a:r>
              <a:rPr sz="1350" b="0">
                <a:solidFill>
                  <a:srgbClr val="5D626D"/>
                </a:solidFill>
              </a:rPr>
              <a:t>Platform adapters and cross-stream history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CAAC1F-BC31-44EB-B878-1FAF61B75813}"/>
              </a:ext>
            </a:extLst>
          </p:cNvPr>
          <p:cNvSpPr>
            <a:spLocks noGrp="1"/>
          </p:cNvSpPr>
          <p:nvPr/>
        </p:nvSpPr>
        <p:spPr>
          <a:xfrm>
            <a:off x="6324600" y="19431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 lnSpcReduction="10000"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What we prove now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F98184-C213-4982-ADC8-9829FB189771}"/>
              </a:ext>
            </a:extLst>
          </p:cNvPr>
          <p:cNvSpPr>
            <a:spLocks noGrp="1"/>
          </p:cNvSpPr>
          <p:nvPr/>
        </p:nvSpPr>
        <p:spPr>
          <a:xfrm>
            <a:off x="6324600" y="2476500"/>
            <a:ext cx="4953000" cy="1857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D4D0DB"/>
                </a:solidFill>
              </a:defRPr>
            </a:pPr>
            <a:r>
              <a:rPr sz="1350" b="0">
                <a:solidFill>
                  <a:srgbClr val="D4D0DB"/>
                </a:solidFill>
              </a:rPr>
              <a:t>ChatXPT Studio + Twitch viewer surface</a:t>
            </a:r>
          </a:p>
          <a:p>
            <a:pPr algn="l">
              <a:defRPr sz="1350" b="0">
                <a:solidFill>
                  <a:srgbClr val="D4D0DB"/>
                </a:solidFill>
              </a:defRPr>
            </a:pPr>
            <a:r>
              <a:rPr sz="1350" b="0">
                <a:solidFill>
                  <a:srgbClr val="D4D0DB"/>
                </a:solidFill>
              </a:rPr>
              <a:t>OBS Browser Source overlay</a:t>
            </a:r>
          </a:p>
          <a:p>
            <a:pPr algn="l">
              <a:defRPr sz="1350" b="0">
                <a:solidFill>
                  <a:srgbClr val="D4D0DB"/>
                </a:solidFill>
              </a:defRPr>
            </a:pPr>
            <a:r>
              <a:rPr sz="1350" b="0">
                <a:solidFill>
                  <a:srgbClr val="D4D0DB"/>
                </a:solidFill>
              </a:rPr>
              <a:t>Gameplay, chat, and profile context</a:t>
            </a:r>
          </a:p>
          <a:p>
            <a:pPr algn="l">
              <a:defRPr sz="1350" b="0">
                <a:solidFill>
                  <a:srgbClr val="D4D0DB"/>
                </a:solidFill>
              </a:defRPr>
            </a:pPr>
            <a:r>
              <a:rPr sz="1350" b="0">
                <a:solidFill>
                  <a:srgbClr val="D4D0DB"/>
                </a:solidFill>
              </a:rPr>
              <a:t>Exactly-three algorithmic candidates</a:t>
            </a:r>
          </a:p>
          <a:p>
            <a:pPr algn="l">
              <a:defRPr sz="1350" b="0">
                <a:solidFill>
                  <a:srgbClr val="D4D0DB"/>
                </a:solidFill>
              </a:defRPr>
            </a:pPr>
            <a:r>
              <a:rPr sz="1350" b="0">
                <a:solidFill>
                  <a:srgbClr val="D4D0DB"/>
                </a:solidFill>
              </a:rPr>
              <a:t>Deterministic safety, voting, and lifecycle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84D13A-D56A-4276-A1E0-08814D9E12FF}"/>
              </a:ext>
            </a:extLst>
          </p:cNvPr>
          <p:cNvSpPr>
            <a:spLocks noGrp="1"/>
          </p:cNvSpPr>
          <p:nvPr/>
        </p:nvSpPr>
        <p:spPr>
          <a:xfrm>
            <a:off x="495300" y="5219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F45B7A"/>
                </a:solidFill>
              </a:defRPr>
            </a:pPr>
            <a:r>
              <a:rPr sz="900" b="1">
                <a:solidFill>
                  <a:srgbClr val="F45B7A"/>
                </a:solidFill>
              </a:rPr>
              <a:t>DEFERRED, NOT DISGUISED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2088F3-872F-4823-82F5-584D3A9AD072}"/>
              </a:ext>
            </a:extLst>
          </p:cNvPr>
          <p:cNvSpPr>
            <a:spLocks noGrp="1"/>
          </p:cNvSpPr>
          <p:nvPr/>
        </p:nvSpPr>
        <p:spPr>
          <a:xfrm>
            <a:off x="3000375" y="51625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26D"/>
                </a:solidFill>
              </a:defRPr>
            </a:pPr>
            <a:r>
              <a:rPr sz="1200" b="0">
                <a:solidFill>
                  <a:srgbClr val="5D626D"/>
                </a:solidFill>
              </a:rPr>
              <a:t>Non-Twitch adapters, public SDK/API, billing, monetary rewards, official telemetry partnerships, production-scale moderation, and public Extension review.</a:t>
            </a:r>
          </a:p>
        </p:txBody>
      </p:sp>
      <p:sp>
        <p:nvSpPr>
          <p:cNvPr id="13" name="slide-5-evidence">
            <a:extLst>
              <a:ext uri="{FF2B5EF4-FFF2-40B4-BE49-F238E27FC236}">
                <a16:creationId xmlns:a16="http://schemas.microsoft.com/office/drawing/2014/main" id="{2679E358-06F6-4DD3-B377-D66EC0384EA8}"/>
              </a:ext>
            </a:extLst>
          </p:cNvPr>
          <p:cNvSpPr>
            <a:spLocks noGrp="1"/>
          </p:cNvSpPr>
          <p:nvPr/>
        </p:nvSpPr>
        <p:spPr>
          <a:xfrm>
            <a:off x="495300" y="6029325"/>
            <a:ext cx="1057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825" b="0">
                <a:solidFill>
                  <a:srgbClr val="5D626D"/>
                </a:solidFill>
              </a:defRPr>
            </a:pPr>
            <a:r>
              <a:rPr sz="825" b="0">
                <a:solidFill>
                  <a:srgbClr val="5D626D"/>
                </a:solidFill>
              </a:rPr>
              <a:t>Scope evidence: implemented Twitch-first surfaces plus explicitly deferred expansion.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FBAB7E-FC97-4BC2-9AAC-8539B9344F73}"/>
              </a:ext>
            </a:extLst>
          </p:cNvPr>
          <p:cNvSpPr>
            <a:spLocks noGrp="1"/>
          </p:cNvSpPr>
          <p:nvPr/>
        </p:nvSpPr>
        <p:spPr>
          <a:xfrm>
            <a:off x="495300" y="6343650"/>
            <a:ext cx="1120140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15" name="slide-5-repo">
            <a:extLst>
              <a:ext uri="{FF2B5EF4-FFF2-40B4-BE49-F238E27FC236}">
                <a16:creationId xmlns:a16="http://schemas.microsoft.com/office/drawing/2014/main" id="{B13F36D9-E78D-49A5-BC23-CD6B7F9766EF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l">
              <a:defRPr sz="750" b="0">
                <a:solidFill>
                  <a:srgbClr val="5D626D"/>
                </a:solidFill>
              </a:defRPr>
            </a:pPr>
            <a:r>
              <a:rPr sz="750" b="0">
                <a:solidFill>
                  <a:srgbClr val="5D626D"/>
                </a:solidFill>
              </a:rPr>
              <a:t>REPO LENS  AGENTS.md  |  docs/PRODUCT_BRIEF.md  |  docs/DECISIONS.md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FEA3AE-4887-4AB8-BF66-D3432780C41E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r">
              <a:defRPr sz="750" b="1">
                <a:solidFill>
                  <a:srgbClr val="5D626D"/>
                </a:solidFill>
              </a:defRPr>
            </a:pPr>
            <a:r>
              <a:rPr sz="750" b="1">
                <a:solidFill>
                  <a:srgbClr val="5D626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42335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6-title">
            <a:extLst>
              <a:ext uri="{FF2B5EF4-FFF2-40B4-BE49-F238E27FC236}">
                <a16:creationId xmlns:a16="http://schemas.microsoft.com/office/drawing/2014/main" id="{5ECBE6B5-C224-4845-AE2F-30D921497A5B}"/>
              </a:ext>
            </a:extLst>
          </p:cNvPr>
          <p:cNvSpPr>
            <a:spLocks noGrp="1"/>
          </p:cNvSpPr>
          <p:nvPr/>
        </p:nvSpPr>
        <p:spPr>
          <a:xfrm>
            <a:off x="495300" y="381000"/>
            <a:ext cx="9334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635"/>
          </a:bodyPr>
          <a:lstStyle/>
          <a:p>
            <a:pPr algn="l">
              <a:defRPr sz="2850" b="1">
                <a:solidFill>
                  <a:srgbClr val="101014"/>
                </a:solidFill>
              </a:defRPr>
            </a:pPr>
            <a:r>
              <a:rPr sz="2850" b="1">
                <a:solidFill>
                  <a:srgbClr val="101014"/>
                </a:solidFill>
              </a:rPr>
              <a:t>Twitch gives the MVP an interactive home without replacing OBS</a:t>
            </a:r>
          </a:p>
        </p:txBody>
      </p:sp>
      <p:sp>
        <p:nvSpPr>
          <p:cNvPr id="2" name="slide-6-section">
            <a:extLst>
              <a:ext uri="{FF2B5EF4-FFF2-40B4-BE49-F238E27FC236}">
                <a16:creationId xmlns:a16="http://schemas.microsoft.com/office/drawing/2014/main" id="{D120B72C-25C3-4560-8C50-91E3B1298761}"/>
              </a:ext>
            </a:extLst>
          </p:cNvPr>
          <p:cNvSpPr>
            <a:spLocks noGrp="1"/>
          </p:cNvSpPr>
          <p:nvPr/>
        </p:nvSpPr>
        <p:spPr>
          <a:xfrm>
            <a:off x="10191750" y="447675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75" b="1">
                <a:solidFill>
                  <a:srgbClr val="7657FF"/>
                </a:solidFill>
              </a:defRPr>
            </a:pPr>
            <a:r>
              <a:rPr sz="975" b="1">
                <a:solidFill>
                  <a:srgbClr val="7657FF"/>
                </a:solidFill>
              </a:rPr>
              <a:t>USERS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344BA8-1AE4-490A-811A-BD4450346EAC}"/>
              </a:ext>
            </a:extLst>
          </p:cNvPr>
          <p:cNvSpPr>
            <a:spLocks noGrp="1"/>
          </p:cNvSpPr>
          <p:nvPr/>
        </p:nvSpPr>
        <p:spPr>
          <a:xfrm>
            <a:off x="495300" y="1209675"/>
            <a:ext cx="4953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5D626D"/>
                </a:solidFill>
              </a:defRPr>
            </a:pPr>
            <a:r>
              <a:rPr sz="1425" b="0">
                <a:solidFill>
                  <a:srgbClr val="5D626D"/>
                </a:solidFill>
              </a:rPr>
              <a:t>Twitch supports panel, overlay, and video-component Extensions. ChatXPT can put voting beside the live video while OBS remains the broadcast tool.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0A69FA-2F84-4634-A3EC-EA02D9048762}"/>
              </a:ext>
            </a:extLst>
          </p:cNvPr>
          <p:cNvSpPr>
            <a:spLocks noGrp="1"/>
          </p:cNvSpPr>
          <p:nvPr/>
        </p:nvSpPr>
        <p:spPr>
          <a:xfrm>
            <a:off x="495300" y="2362200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097"/>
          </a:bodyPr>
          <a:lstStyle/>
          <a:p>
            <a:pPr algn="l">
              <a:defRPr sz="1425" b="1">
                <a:solidFill>
                  <a:srgbClr val="7657FF"/>
                </a:solidFill>
              </a:defRPr>
            </a:pPr>
            <a:r>
              <a:rPr sz="1425" b="1">
                <a:solidFill>
                  <a:srgbClr val="7657FF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A69AB7-27B5-4B92-8244-6476DA72C5EE}"/>
              </a:ext>
            </a:extLst>
          </p:cNvPr>
          <p:cNvSpPr>
            <a:spLocks noGrp="1"/>
          </p:cNvSpPr>
          <p:nvPr/>
        </p:nvSpPr>
        <p:spPr>
          <a:xfrm>
            <a:off x="952500" y="2352675"/>
            <a:ext cx="430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10000"/>
          </a:bodyPr>
          <a:lstStyle/>
          <a:p>
            <a:pPr algn="l">
              <a:defRPr sz="1500" b="1">
                <a:solidFill>
                  <a:srgbClr val="101014"/>
                </a:solidFill>
              </a:defRPr>
            </a:pPr>
            <a:r>
              <a:rPr sz="1500" b="1">
                <a:solidFill>
                  <a:srgbClr val="101014"/>
                </a:solidFill>
              </a:rPr>
              <a:t>First setup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208CC1-9157-496D-9F15-A54532E806E3}"/>
              </a:ext>
            </a:extLst>
          </p:cNvPr>
          <p:cNvSpPr>
            <a:spLocks noGrp="1"/>
          </p:cNvSpPr>
          <p:nvPr/>
        </p:nvSpPr>
        <p:spPr>
          <a:xfrm>
            <a:off x="952500" y="2657475"/>
            <a:ext cx="4305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D626D"/>
                </a:solidFill>
              </a:defRPr>
            </a:pPr>
            <a:r>
              <a:rPr sz="1125" b="0">
                <a:solidFill>
                  <a:srgbClr val="5D626D"/>
                </a:solidFill>
              </a:rPr>
              <a:t>Connect Twitch, select the capture source, add one ChatXPT Browser Source to the OBS scene, and save preferences.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F38FCF-5520-4C6F-BD06-3A3D97F025AA}"/>
              </a:ext>
            </a:extLst>
          </p:cNvPr>
          <p:cNvSpPr>
            <a:spLocks noGrp="1"/>
          </p:cNvSpPr>
          <p:nvPr/>
        </p:nvSpPr>
        <p:spPr>
          <a:xfrm>
            <a:off x="495300" y="3476625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097"/>
          </a:bodyPr>
          <a:lstStyle/>
          <a:p>
            <a:pPr algn="l">
              <a:defRPr sz="1425" b="1">
                <a:solidFill>
                  <a:srgbClr val="C9F53B"/>
                </a:solidFill>
              </a:defRPr>
            </a:pPr>
            <a:r>
              <a:rPr sz="1425" b="1">
                <a:solidFill>
                  <a:srgbClr val="C9F53B"/>
                </a:solidFill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BF660F-7B72-4212-AFD3-8BD9EC2F13A8}"/>
              </a:ext>
            </a:extLst>
          </p:cNvPr>
          <p:cNvSpPr>
            <a:spLocks noGrp="1"/>
          </p:cNvSpPr>
          <p:nvPr/>
        </p:nvSpPr>
        <p:spPr>
          <a:xfrm>
            <a:off x="952500" y="3467100"/>
            <a:ext cx="430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10000"/>
          </a:bodyPr>
          <a:lstStyle/>
          <a:p>
            <a:pPr algn="l">
              <a:defRPr sz="1500" b="1">
                <a:solidFill>
                  <a:srgbClr val="101014"/>
                </a:solidFill>
              </a:defRPr>
            </a:pPr>
            <a:r>
              <a:rPr sz="1500" b="1">
                <a:solidFill>
                  <a:srgbClr val="101014"/>
                </a:solidFill>
              </a:rPr>
              <a:t>Every later stream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1508E2-7A35-42F9-8FF9-35C330540530}"/>
              </a:ext>
            </a:extLst>
          </p:cNvPr>
          <p:cNvSpPr>
            <a:spLocks noGrp="1"/>
          </p:cNvSpPr>
          <p:nvPr/>
        </p:nvSpPr>
        <p:spPr>
          <a:xfrm>
            <a:off x="952500" y="3771900"/>
            <a:ext cx="4305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D626D"/>
                </a:solidFill>
              </a:defRPr>
            </a:pPr>
            <a:r>
              <a:rPr sz="1125" b="0">
                <a:solidFill>
                  <a:srgbClr val="5D626D"/>
                </a:solidFill>
              </a:rPr>
              <a:t>Open the same OBS scene. Existing sources remain; ChatXPT observes and automation can open a vote when the chosen trigger is met.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DBD57FD-5D13-4996-9AA4-1CB0C2DF76DC}"/>
              </a:ext>
            </a:extLst>
          </p:cNvPr>
          <p:cNvSpPr>
            <a:spLocks noGrp="1"/>
          </p:cNvSpPr>
          <p:nvPr/>
        </p:nvSpPr>
        <p:spPr>
          <a:xfrm>
            <a:off x="5791200" y="1323975"/>
            <a:ext cx="5962650" cy="384810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D8DBE2"/>
            </a:solidFill>
            <a:prstDash val="solid"/>
          </a:ln>
        </p:spPr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rcRect l="1052" r="1052"/>
          <a:stretch>
            <a:fillRect/>
          </a:stretch>
        </p:blipFill>
        <p:spPr>
          <a:xfrm>
            <a:off x="5848350" y="1381125"/>
            <a:ext cx="5848350" cy="3733800"/>
          </a:xfrm>
          <a:prstGeom prst="roundRect">
            <a:avLst>
              <a:gd name="adj" fmla="val 2041"/>
            </a:avLst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F1E4A02-0006-4299-BA85-BCCCBEC5F10C}"/>
              </a:ext>
            </a:extLst>
          </p:cNvPr>
          <p:cNvSpPr>
            <a:spLocks noGrp="1"/>
          </p:cNvSpPr>
          <p:nvPr/>
        </p:nvSpPr>
        <p:spPr>
          <a:xfrm>
            <a:off x="5848350" y="5314950"/>
            <a:ext cx="5848350" cy="514350"/>
          </a:xfrm>
          <a:prstGeom prst="roundRect">
            <a:avLst>
              <a:gd name="adj" fmla="val 14815"/>
            </a:avLst>
          </a:prstGeom>
          <a:solidFill>
            <a:srgbClr val="0D0B14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3049CE-D16E-4B0D-89A8-312F425F233E}"/>
              </a:ext>
            </a:extLst>
          </p:cNvPr>
          <p:cNvSpPr>
            <a:spLocks noGrp="1"/>
          </p:cNvSpPr>
          <p:nvPr/>
        </p:nvSpPr>
        <p:spPr>
          <a:xfrm>
            <a:off x="6038850" y="5486400"/>
            <a:ext cx="546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 lnSpcReduction="10000"/>
          </a:bodyPr>
          <a:lstStyle/>
          <a:p>
            <a:pPr algn="ctr">
              <a:defRPr sz="900" b="1">
                <a:solidFill>
                  <a:srgbClr val="C9F53B"/>
                </a:solidFill>
              </a:defRPr>
            </a:pPr>
            <a:r>
              <a:rPr sz="900" b="1">
                <a:solidFill>
                  <a:srgbClr val="C9F53B"/>
                </a:solidFill>
              </a:rPr>
              <a:t>ONE-TIME SETUP  &gt;  OBS REMEMBERS THE SCENE  &gt;  RETURNING STREAMS START FASTER</a:t>
            </a:r>
          </a:p>
        </p:txBody>
      </p:sp>
      <p:sp>
        <p:nvSpPr>
          <p:cNvPr id="14" name="slide-6-evidence">
            <a:extLst>
              <a:ext uri="{FF2B5EF4-FFF2-40B4-BE49-F238E27FC236}">
                <a16:creationId xmlns:a16="http://schemas.microsoft.com/office/drawing/2014/main" id="{D60D23FC-0276-417D-939E-7D4BEE144574}"/>
              </a:ext>
            </a:extLst>
          </p:cNvPr>
          <p:cNvSpPr>
            <a:spLocks noGrp="1"/>
          </p:cNvSpPr>
          <p:nvPr/>
        </p:nvSpPr>
        <p:spPr>
          <a:xfrm>
            <a:off x="495300" y="6029325"/>
            <a:ext cx="1057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825" b="0">
                <a:solidFill>
                  <a:srgbClr val="5D626D"/>
                </a:solidFill>
              </a:defRPr>
            </a:pPr>
            <a:r>
              <a:rPr sz="825" b="0">
                <a:solidFill>
                  <a:srgbClr val="5D626D"/>
                </a:solidFill>
              </a:rPr>
              <a:t>Evidence: Twitch supports Extension viewer surfaces; setup screenshot is local product evidence.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B66035-AB77-4BFA-9E92-82390C74F8A3}"/>
              </a:ext>
            </a:extLst>
          </p:cNvPr>
          <p:cNvSpPr>
            <a:spLocks noGrp="1"/>
          </p:cNvSpPr>
          <p:nvPr/>
        </p:nvSpPr>
        <p:spPr>
          <a:xfrm>
            <a:off x="495300" y="6343650"/>
            <a:ext cx="1120140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16" name="slide-6-repo">
            <a:extLst>
              <a:ext uri="{FF2B5EF4-FFF2-40B4-BE49-F238E27FC236}">
                <a16:creationId xmlns:a16="http://schemas.microsoft.com/office/drawing/2014/main" id="{B6694FB9-2CC8-4225-8C29-8816CA240BD4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l">
              <a:defRPr sz="750" b="0">
                <a:solidFill>
                  <a:srgbClr val="5D626D"/>
                </a:solidFill>
              </a:defRPr>
            </a:pPr>
            <a:r>
              <a:rPr sz="750" b="0">
                <a:solidFill>
                  <a:srgbClr val="5D626D"/>
                </a:solidFill>
              </a:rPr>
              <a:t>REPO LENS  src/integrations/twitch/  |  src/integrations/obs/  |  src/streamer/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D9F221-ED42-4847-8384-6D4FEDA1A83D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r">
              <a:defRPr sz="750" b="1">
                <a:solidFill>
                  <a:srgbClr val="5D626D"/>
                </a:solidFill>
              </a:defRPr>
            </a:pPr>
            <a:r>
              <a:rPr sz="750" b="1">
                <a:solidFill>
                  <a:srgbClr val="5D626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39649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7-title">
            <a:extLst>
              <a:ext uri="{FF2B5EF4-FFF2-40B4-BE49-F238E27FC236}">
                <a16:creationId xmlns:a16="http://schemas.microsoft.com/office/drawing/2014/main" id="{3525DB40-9654-426A-B705-E6C03834FF7D}"/>
              </a:ext>
            </a:extLst>
          </p:cNvPr>
          <p:cNvSpPr>
            <a:spLocks noGrp="1"/>
          </p:cNvSpPr>
          <p:nvPr/>
        </p:nvSpPr>
        <p:spPr>
          <a:xfrm>
            <a:off x="495300" y="381000"/>
            <a:ext cx="9334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566"/>
          </a:bodyPr>
          <a:lstStyle/>
          <a:p>
            <a:pPr algn="l">
              <a:defRPr sz="3225" b="1">
                <a:solidFill>
                  <a:srgbClr val="101014"/>
                </a:solidFill>
              </a:defRPr>
            </a:pPr>
            <a:r>
              <a:rPr sz="3225" b="1">
                <a:solidFill>
                  <a:srgbClr val="101014"/>
                </a:solidFill>
              </a:rPr>
              <a:t>Streamers choose how much the system automates</a:t>
            </a:r>
          </a:p>
        </p:txBody>
      </p:sp>
      <p:sp>
        <p:nvSpPr>
          <p:cNvPr id="2" name="slide-7-section">
            <a:extLst>
              <a:ext uri="{FF2B5EF4-FFF2-40B4-BE49-F238E27FC236}">
                <a16:creationId xmlns:a16="http://schemas.microsoft.com/office/drawing/2014/main" id="{69F7C7F2-6ADA-4EF6-8712-91BF962519F3}"/>
              </a:ext>
            </a:extLst>
          </p:cNvPr>
          <p:cNvSpPr>
            <a:spLocks noGrp="1"/>
          </p:cNvSpPr>
          <p:nvPr/>
        </p:nvSpPr>
        <p:spPr>
          <a:xfrm>
            <a:off x="10191750" y="447675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75" b="1">
                <a:solidFill>
                  <a:srgbClr val="7657FF"/>
                </a:solidFill>
              </a:defRPr>
            </a:pPr>
            <a:r>
              <a:rPr sz="975" b="1">
                <a:solidFill>
                  <a:srgbClr val="7657FF"/>
                </a:solidFill>
              </a:rPr>
              <a:t>USERS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EE24F67-E012-4ABB-A27A-5AE15921558A}"/>
              </a:ext>
            </a:extLst>
          </p:cNvPr>
          <p:cNvSpPr>
            <a:spLocks noGrp="1"/>
          </p:cNvSpPr>
          <p:nvPr/>
        </p:nvSpPr>
        <p:spPr>
          <a:xfrm>
            <a:off x="6038850" y="1295400"/>
            <a:ext cx="5715000" cy="4210050"/>
          </a:xfrm>
          <a:prstGeom prst="roundRect">
            <a:avLst>
              <a:gd name="adj" fmla="val 1810"/>
            </a:avLst>
          </a:prstGeom>
          <a:solidFill>
            <a:srgbClr val="FFFFFF"/>
          </a:solidFill>
          <a:ln w="9525">
            <a:solidFill>
              <a:srgbClr val="D8DBE2"/>
            </a:solidFill>
            <a:prstDash val="solid"/>
          </a:ln>
        </p:spPr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rcRect t="6943" b="6943"/>
          <a:stretch>
            <a:fillRect/>
          </a:stretch>
        </p:blipFill>
        <p:spPr>
          <a:xfrm>
            <a:off x="6096000" y="1352550"/>
            <a:ext cx="5600700" cy="4095750"/>
          </a:xfrm>
          <a:prstGeom prst="roundRect">
            <a:avLst>
              <a:gd name="adj" fmla="val 1860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1C6B2A8-86F3-42DB-8D62-70E64DE4E9CD}"/>
              </a:ext>
            </a:extLst>
          </p:cNvPr>
          <p:cNvSpPr>
            <a:spLocks noGrp="1"/>
          </p:cNvSpPr>
          <p:nvPr/>
        </p:nvSpPr>
        <p:spPr>
          <a:xfrm>
            <a:off x="495300" y="143827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7657FF"/>
                </a:solidFill>
              </a:defRPr>
            </a:pPr>
            <a:r>
              <a:rPr sz="975" b="1">
                <a:solidFill>
                  <a:srgbClr val="7657FF"/>
                </a:solidFill>
              </a:rPr>
              <a:t>AUTOMATIC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6C2B42-CA03-41B7-B4F0-3D850932C577}"/>
              </a:ext>
            </a:extLst>
          </p:cNvPr>
          <p:cNvSpPr>
            <a:spLocks noGrp="1"/>
          </p:cNvSpPr>
          <p:nvPr/>
        </p:nvSpPr>
        <p:spPr>
          <a:xfrm>
            <a:off x="495300" y="1790700"/>
            <a:ext cx="48577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056" lnSpcReduction="10000"/>
          </a:bodyPr>
          <a:lstStyle/>
          <a:p>
            <a:pPr algn="l">
              <a:defRPr sz="2250" b="1">
                <a:solidFill>
                  <a:srgbClr val="101014"/>
                </a:solidFill>
              </a:defRPr>
            </a:pPr>
            <a:r>
              <a:rPr sz="2250" b="1">
                <a:solidFill>
                  <a:srgbClr val="101014"/>
                </a:solidFill>
              </a:rPr>
              <a:t>Set the trigger once.</a:t>
            </a:r>
          </a:p>
          <a:p>
            <a:pPr algn="l">
              <a:defRPr sz="2250" b="1">
                <a:solidFill>
                  <a:srgbClr val="101014"/>
                </a:solidFill>
              </a:defRPr>
            </a:pPr>
            <a:r>
              <a:rPr sz="2250" b="1">
                <a:solidFill>
                  <a:srgbClr val="101014"/>
                </a:solidFill>
              </a:rPr>
              <a:t>Keep playing.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51EE8E-E3F8-4A46-9ACB-B08E38151380}"/>
              </a:ext>
            </a:extLst>
          </p:cNvPr>
          <p:cNvSpPr>
            <a:spLocks noGrp="1"/>
          </p:cNvSpPr>
          <p:nvPr/>
        </p:nvSpPr>
        <p:spPr>
          <a:xfrm>
            <a:off x="495300" y="2609850"/>
            <a:ext cx="495300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26D"/>
                </a:solidFill>
              </a:defRPr>
            </a:pPr>
            <a:r>
              <a:rPr sz="1350" b="0">
                <a:solidFill>
                  <a:srgbClr val="5D626D"/>
                </a:solidFill>
              </a:rPr>
              <a:t>ChatXPT assesses silently, generates three quests, opens the viewer vote, and sends the winning quest to the overlay.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6161A1-0425-4678-BA45-1044EF58C0B8}"/>
              </a:ext>
            </a:extLst>
          </p:cNvPr>
          <p:cNvSpPr>
            <a:spLocks noGrp="1"/>
          </p:cNvSpPr>
          <p:nvPr/>
        </p:nvSpPr>
        <p:spPr>
          <a:xfrm>
            <a:off x="495300" y="3676650"/>
            <a:ext cx="495300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CB3EC5-5093-497D-8B5C-9270ED0F7D36}"/>
              </a:ext>
            </a:extLst>
          </p:cNvPr>
          <p:cNvSpPr>
            <a:spLocks noGrp="1"/>
          </p:cNvSpPr>
          <p:nvPr/>
        </p:nvSpPr>
        <p:spPr>
          <a:xfrm>
            <a:off x="495300" y="392430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F3A33C"/>
                </a:solidFill>
              </a:defRPr>
            </a:pPr>
            <a:r>
              <a:rPr sz="975" b="1">
                <a:solidFill>
                  <a:srgbClr val="F3A33C"/>
                </a:solidFill>
              </a:rPr>
              <a:t>MANUAL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081099-52C8-468A-9B7D-63CCEE7C732F}"/>
              </a:ext>
            </a:extLst>
          </p:cNvPr>
          <p:cNvSpPr>
            <a:spLocks noGrp="1"/>
          </p:cNvSpPr>
          <p:nvPr/>
        </p:nvSpPr>
        <p:spPr>
          <a:xfrm>
            <a:off x="495300" y="4248150"/>
            <a:ext cx="4953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000"/>
          </a:bodyPr>
          <a:lstStyle/>
          <a:p>
            <a:pPr algn="l">
              <a:defRPr sz="1875" b="1">
                <a:solidFill>
                  <a:srgbClr val="101014"/>
                </a:solidFill>
              </a:defRPr>
            </a:pPr>
            <a:r>
              <a:rPr sz="1875" b="1">
                <a:solidFill>
                  <a:srgbClr val="101014"/>
                </a:solidFill>
              </a:rPr>
              <a:t>Review before viewers see it.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944A8C-C2EB-4EF6-AB29-4D7068C41BFF}"/>
              </a:ext>
            </a:extLst>
          </p:cNvPr>
          <p:cNvSpPr>
            <a:spLocks noGrp="1"/>
          </p:cNvSpPr>
          <p:nvPr/>
        </p:nvSpPr>
        <p:spPr>
          <a:xfrm>
            <a:off x="495300" y="4733925"/>
            <a:ext cx="4953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D626D"/>
                </a:solidFill>
              </a:defRPr>
            </a:pPr>
            <a:r>
              <a:rPr sz="1275" b="0">
                <a:solidFill>
                  <a:srgbClr val="5D626D"/>
                </a:solidFill>
              </a:rPr>
              <a:t>Analysis and generation still happen, but the streamer approves, rejects, or delays the vote.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82FEA06-99B0-4E85-BCDD-1999BF6BB733}"/>
              </a:ext>
            </a:extLst>
          </p:cNvPr>
          <p:cNvSpPr>
            <a:spLocks noGrp="1"/>
          </p:cNvSpPr>
          <p:nvPr/>
        </p:nvSpPr>
        <p:spPr>
          <a:xfrm>
            <a:off x="495300" y="5629275"/>
            <a:ext cx="11201400" cy="323850"/>
          </a:xfrm>
          <a:prstGeom prst="roundRect">
            <a:avLst>
              <a:gd name="adj" fmla="val 23529"/>
            </a:avLst>
          </a:prstGeom>
          <a:solidFill>
            <a:srgbClr val="EEF7C8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AD31A6-AE97-4EA1-BCC6-3FAFDDFBB2B8}"/>
              </a:ext>
            </a:extLst>
          </p:cNvPr>
          <p:cNvSpPr>
            <a:spLocks noGrp="1"/>
          </p:cNvSpPr>
          <p:nvPr/>
        </p:nvSpPr>
        <p:spPr>
          <a:xfrm>
            <a:off x="666750" y="5715000"/>
            <a:ext cx="10858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5278" lnSpcReduction="10000"/>
          </a:bodyPr>
          <a:lstStyle/>
          <a:p>
            <a:pPr algn="ctr">
              <a:defRPr sz="900" b="1">
                <a:solidFill>
                  <a:srgbClr val="101014"/>
                </a:solidFill>
              </a:defRPr>
            </a:pPr>
            <a:r>
              <a:rPr sz="900" b="1">
                <a:solidFill>
                  <a:srgbClr val="101014"/>
                </a:solidFill>
              </a:rPr>
              <a:t>Always available: emergency pause  |  skip/cancel/result  |  intensity  |  connection health  |  current context</a:t>
            </a:r>
          </a:p>
        </p:txBody>
      </p:sp>
      <p:sp>
        <p:nvSpPr>
          <p:cNvPr id="14" name="slide-7-evidence">
            <a:extLst>
              <a:ext uri="{FF2B5EF4-FFF2-40B4-BE49-F238E27FC236}">
                <a16:creationId xmlns:a16="http://schemas.microsoft.com/office/drawing/2014/main" id="{82B0A791-10D6-4868-9446-73E8B8309440}"/>
              </a:ext>
            </a:extLst>
          </p:cNvPr>
          <p:cNvSpPr>
            <a:spLocks noGrp="1"/>
          </p:cNvSpPr>
          <p:nvPr/>
        </p:nvSpPr>
        <p:spPr>
          <a:xfrm>
            <a:off x="495300" y="6029325"/>
            <a:ext cx="1057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825" b="0">
                <a:solidFill>
                  <a:srgbClr val="5D626D"/>
                </a:solidFill>
              </a:defRPr>
            </a:pPr>
            <a:r>
              <a:rPr sz="825" b="0">
                <a:solidFill>
                  <a:srgbClr val="5D626D"/>
                </a:solidFill>
              </a:rPr>
              <a:t>Control principle: automation reduces work; it never removes streamer veto or safety authority.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9C62A6-B6F9-4DB3-AD4B-87CDFB5F745D}"/>
              </a:ext>
            </a:extLst>
          </p:cNvPr>
          <p:cNvSpPr>
            <a:spLocks noGrp="1"/>
          </p:cNvSpPr>
          <p:nvPr/>
        </p:nvSpPr>
        <p:spPr>
          <a:xfrm>
            <a:off x="495300" y="6343650"/>
            <a:ext cx="1120140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16" name="slide-7-repo">
            <a:extLst>
              <a:ext uri="{FF2B5EF4-FFF2-40B4-BE49-F238E27FC236}">
                <a16:creationId xmlns:a16="http://schemas.microsoft.com/office/drawing/2014/main" id="{E4A9BFB1-5F27-4600-A579-E5385E3DB9B5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l">
              <a:defRPr sz="750" b="0">
                <a:solidFill>
                  <a:srgbClr val="5D626D"/>
                </a:solidFill>
              </a:defRPr>
            </a:pPr>
            <a:r>
              <a:rPr sz="750" b="0">
                <a:solidFill>
                  <a:srgbClr val="5D626D"/>
                </a:solidFill>
              </a:rPr>
              <a:t>REPO LENS  src/streamer/  |  src/core/application/  |  docs/DECISIONS.md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4C84EB-9787-42C6-9E19-1EE0D6322B70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r">
              <a:defRPr sz="750" b="1">
                <a:solidFill>
                  <a:srgbClr val="5D626D"/>
                </a:solidFill>
              </a:defRPr>
            </a:pPr>
            <a:r>
              <a:rPr sz="750" b="1">
                <a:solidFill>
                  <a:srgbClr val="5D626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9358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8-title">
            <a:extLst>
              <a:ext uri="{FF2B5EF4-FFF2-40B4-BE49-F238E27FC236}">
                <a16:creationId xmlns:a16="http://schemas.microsoft.com/office/drawing/2014/main" id="{ED32DC3A-5E57-47BC-9F71-3B0A261CE3B8}"/>
              </a:ext>
            </a:extLst>
          </p:cNvPr>
          <p:cNvSpPr>
            <a:spLocks noGrp="1"/>
          </p:cNvSpPr>
          <p:nvPr/>
        </p:nvSpPr>
        <p:spPr>
          <a:xfrm>
            <a:off x="495300" y="381000"/>
            <a:ext cx="9334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468"/>
          </a:bodyPr>
          <a:lstStyle/>
          <a:p>
            <a:pPr algn="l">
              <a:defRPr sz="2925" b="1">
                <a:solidFill>
                  <a:srgbClr val="101014"/>
                </a:solidFill>
              </a:defRPr>
            </a:pPr>
            <a:r>
              <a:rPr sz="2925" b="1">
                <a:solidFill>
                  <a:srgbClr val="101014"/>
                </a:solidFill>
              </a:rPr>
              <a:t>Customise once; keep the streamer's personality in the loop</a:t>
            </a:r>
          </a:p>
        </p:txBody>
      </p:sp>
      <p:sp>
        <p:nvSpPr>
          <p:cNvPr id="2" name="slide-8-section">
            <a:extLst>
              <a:ext uri="{FF2B5EF4-FFF2-40B4-BE49-F238E27FC236}">
                <a16:creationId xmlns:a16="http://schemas.microsoft.com/office/drawing/2014/main" id="{A296210E-CC8A-4E23-A34E-6C8B32AD0206}"/>
              </a:ext>
            </a:extLst>
          </p:cNvPr>
          <p:cNvSpPr>
            <a:spLocks noGrp="1"/>
          </p:cNvSpPr>
          <p:nvPr/>
        </p:nvSpPr>
        <p:spPr>
          <a:xfrm>
            <a:off x="10191750" y="447675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75" b="1">
                <a:solidFill>
                  <a:srgbClr val="7657FF"/>
                </a:solidFill>
              </a:defRPr>
            </a:pPr>
            <a:r>
              <a:rPr sz="975" b="1">
                <a:solidFill>
                  <a:srgbClr val="7657FF"/>
                </a:solidFill>
              </a:rPr>
              <a:t>USERS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BB0204A-5E8C-4B50-8445-FD8360364CC9}"/>
              </a:ext>
            </a:extLst>
          </p:cNvPr>
          <p:cNvSpPr>
            <a:spLocks noGrp="1"/>
          </p:cNvSpPr>
          <p:nvPr/>
        </p:nvSpPr>
        <p:spPr>
          <a:xfrm>
            <a:off x="438150" y="1323975"/>
            <a:ext cx="5124450" cy="422910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9525">
            <a:solidFill>
              <a:srgbClr val="D8DBE2"/>
            </a:solidFill>
            <a:prstDash val="solid"/>
          </a:ln>
        </p:spPr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rcRect t="3730" b="3730"/>
          <a:stretch>
            <a:fillRect/>
          </a:stretch>
        </p:blipFill>
        <p:spPr>
          <a:xfrm>
            <a:off x="495300" y="1381125"/>
            <a:ext cx="5010150" cy="4114800"/>
          </a:xfrm>
          <a:prstGeom prst="roundRect">
            <a:avLst>
              <a:gd name="adj" fmla="val 1852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DE93962-D0D9-432C-BF1E-4E544C5DF44A}"/>
              </a:ext>
            </a:extLst>
          </p:cNvPr>
          <p:cNvSpPr>
            <a:spLocks noGrp="1"/>
          </p:cNvSpPr>
          <p:nvPr/>
        </p:nvSpPr>
        <p:spPr>
          <a:xfrm>
            <a:off x="6000750" y="1438275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7657FF"/>
                </a:solidFill>
              </a:defRPr>
            </a:pPr>
            <a:r>
              <a:rPr sz="975" b="1">
                <a:solidFill>
                  <a:srgbClr val="7657FF"/>
                </a:solidFill>
              </a:rPr>
              <a:t>SAVED CREATOR INPUT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19C59F-EEF9-4EF2-9346-8DFFE19B7EF5}"/>
              </a:ext>
            </a:extLst>
          </p:cNvPr>
          <p:cNvSpPr>
            <a:spLocks noGrp="1"/>
          </p:cNvSpPr>
          <p:nvPr/>
        </p:nvSpPr>
        <p:spPr>
          <a:xfrm>
            <a:off x="6000750" y="183832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Game context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C0B232-1F19-4CC6-AC27-FA35DD0BC415}"/>
              </a:ext>
            </a:extLst>
          </p:cNvPr>
          <p:cNvSpPr>
            <a:spLocks noGrp="1"/>
          </p:cNvSpPr>
          <p:nvPr/>
        </p:nvSpPr>
        <p:spPr>
          <a:xfrm>
            <a:off x="8077200" y="18478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D626D"/>
                </a:solidFill>
              </a:defRPr>
            </a:pPr>
            <a:r>
              <a:rPr sz="1125" b="0">
                <a:solidFill>
                  <a:srgbClr val="5D626D"/>
                </a:solidFill>
              </a:rPr>
              <a:t>title/category, capability, phase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F07303-A3EC-4762-B1D1-E1721215AA9D}"/>
              </a:ext>
            </a:extLst>
          </p:cNvPr>
          <p:cNvSpPr>
            <a:spLocks noGrp="1"/>
          </p:cNvSpPr>
          <p:nvPr/>
        </p:nvSpPr>
        <p:spPr>
          <a:xfrm>
            <a:off x="6000750" y="2238375"/>
            <a:ext cx="550545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19C8D0-70CD-498F-959A-CB0D6F406765}"/>
              </a:ext>
            </a:extLst>
          </p:cNvPr>
          <p:cNvSpPr>
            <a:spLocks noGrp="1"/>
          </p:cNvSpPr>
          <p:nvPr/>
        </p:nvSpPr>
        <p:spPr>
          <a:xfrm>
            <a:off x="6000750" y="24193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Performance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DBEE8E-3BEC-4997-841B-7CAAD54EC6AC}"/>
              </a:ext>
            </a:extLst>
          </p:cNvPr>
          <p:cNvSpPr>
            <a:spLocks noGrp="1"/>
          </p:cNvSpPr>
          <p:nvPr/>
        </p:nvSpPr>
        <p:spPr>
          <a:xfrm>
            <a:off x="8077200" y="242887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D626D"/>
                </a:solidFill>
              </a:defRPr>
            </a:pPr>
            <a:r>
              <a:rPr sz="1125" b="0">
                <a:solidFill>
                  <a:srgbClr val="5D626D"/>
                </a:solidFill>
              </a:rPr>
              <a:t>tone, comedy, intensity, creativity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A9C8C6-7A9B-471A-B788-A4424245AB1D}"/>
              </a:ext>
            </a:extLst>
          </p:cNvPr>
          <p:cNvSpPr>
            <a:spLocks noGrp="1"/>
          </p:cNvSpPr>
          <p:nvPr/>
        </p:nvSpPr>
        <p:spPr>
          <a:xfrm>
            <a:off x="6000750" y="2819400"/>
            <a:ext cx="550545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928166-9EDE-4EC5-95D4-2299670900D7}"/>
              </a:ext>
            </a:extLst>
          </p:cNvPr>
          <p:cNvSpPr>
            <a:spLocks noGrp="1"/>
          </p:cNvSpPr>
          <p:nvPr/>
        </p:nvSpPr>
        <p:spPr>
          <a:xfrm>
            <a:off x="6000750" y="300037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Boundaries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A0F55D-3620-47F9-B33B-2FB38EA23BB1}"/>
              </a:ext>
            </a:extLst>
          </p:cNvPr>
          <p:cNvSpPr>
            <a:spLocks noGrp="1"/>
          </p:cNvSpPr>
          <p:nvPr/>
        </p:nvSpPr>
        <p:spPr>
          <a:xfrm>
            <a:off x="8077200" y="3009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D626D"/>
                </a:solidFill>
              </a:defRPr>
            </a:pPr>
            <a:r>
              <a:rPr sz="1125" b="0">
                <a:solidFill>
                  <a:srgbClr val="5D626D"/>
                </a:solidFill>
              </a:rPr>
              <a:t>forbidden types, safety, accessibility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BB3EB7-44AD-4A9E-A202-7DEA319E5FB2}"/>
              </a:ext>
            </a:extLst>
          </p:cNvPr>
          <p:cNvSpPr>
            <a:spLocks noGrp="1"/>
          </p:cNvSpPr>
          <p:nvPr/>
        </p:nvSpPr>
        <p:spPr>
          <a:xfrm>
            <a:off x="6000750" y="3400425"/>
            <a:ext cx="550545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76251F-4AB2-42BE-8166-5D4638ECC30D}"/>
              </a:ext>
            </a:extLst>
          </p:cNvPr>
          <p:cNvSpPr>
            <a:spLocks noGrp="1"/>
          </p:cNvSpPr>
          <p:nvPr/>
        </p:nvSpPr>
        <p:spPr>
          <a:xfrm>
            <a:off x="6000750" y="35814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Intervention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AD28BF-3BB9-4B2F-BA2B-265E55ABE283}"/>
              </a:ext>
            </a:extLst>
          </p:cNvPr>
          <p:cNvSpPr>
            <a:spLocks noGrp="1"/>
          </p:cNvSpPr>
          <p:nvPr/>
        </p:nvSpPr>
        <p:spPr>
          <a:xfrm>
            <a:off x="8077200" y="359092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D626D"/>
                </a:solidFill>
              </a:defRPr>
            </a:pPr>
            <a:r>
              <a:rPr sz="1125" b="0">
                <a:solidFill>
                  <a:srgbClr val="5D626D"/>
                </a:solidFill>
              </a:rPr>
              <a:t>automatic/manual, trigger, vote duration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A1FCCB-D73F-43BD-AD62-BC53272E20AD}"/>
              </a:ext>
            </a:extLst>
          </p:cNvPr>
          <p:cNvSpPr>
            <a:spLocks noGrp="1"/>
          </p:cNvSpPr>
          <p:nvPr/>
        </p:nvSpPr>
        <p:spPr>
          <a:xfrm>
            <a:off x="6000750" y="3981450"/>
            <a:ext cx="550545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4728EA-DD40-49FE-8489-A21E46F09DA5}"/>
              </a:ext>
            </a:extLst>
          </p:cNvPr>
          <p:cNvSpPr>
            <a:spLocks noGrp="1"/>
          </p:cNvSpPr>
          <p:nvPr/>
        </p:nvSpPr>
        <p:spPr>
          <a:xfrm>
            <a:off x="6000750" y="416242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Rewards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8FE3E3-340E-4C90-A4C8-F03C4EA1FE5C}"/>
              </a:ext>
            </a:extLst>
          </p:cNvPr>
          <p:cNvSpPr>
            <a:spLocks noGrp="1"/>
          </p:cNvSpPr>
          <p:nvPr/>
        </p:nvSpPr>
        <p:spPr>
          <a:xfrm>
            <a:off x="8077200" y="41719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D626D"/>
                </a:solidFill>
              </a:defRPr>
            </a:pPr>
            <a:r>
              <a:rPr sz="1125" b="0">
                <a:solidFill>
                  <a:srgbClr val="5D626D"/>
                </a:solidFill>
              </a:rPr>
              <a:t>points, hype, result handling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5BB345-0A4C-4B1C-947F-B8D56E1ECB8E}"/>
              </a:ext>
            </a:extLst>
          </p:cNvPr>
          <p:cNvSpPr>
            <a:spLocks noGrp="1"/>
          </p:cNvSpPr>
          <p:nvPr/>
        </p:nvSpPr>
        <p:spPr>
          <a:xfrm>
            <a:off x="6000750" y="4562475"/>
            <a:ext cx="550545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2E04B38-1FD8-40A9-9451-5849ED387D3B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5505450" cy="666750"/>
          </a:xfrm>
          <a:prstGeom prst="roundRect">
            <a:avLst>
              <a:gd name="adj" fmla="val 11429"/>
            </a:avLst>
          </a:prstGeom>
          <a:solidFill>
            <a:srgbClr val="0D0B14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BC3207-1780-4B14-B3BF-1B9171A1AD34}"/>
              </a:ext>
            </a:extLst>
          </p:cNvPr>
          <p:cNvSpPr>
            <a:spLocks noGrp="1"/>
          </p:cNvSpPr>
          <p:nvPr/>
        </p:nvSpPr>
        <p:spPr>
          <a:xfrm>
            <a:off x="6210300" y="5143500"/>
            <a:ext cx="5086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 lnSpcReduction="10000"/>
          </a:bodyPr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ChatXPT should amplify the creator, not replace them.</a:t>
            </a:r>
          </a:p>
        </p:txBody>
      </p:sp>
      <p:sp>
        <p:nvSpPr>
          <p:cNvPr id="23" name="slide-8-evidence">
            <a:extLst>
              <a:ext uri="{FF2B5EF4-FFF2-40B4-BE49-F238E27FC236}">
                <a16:creationId xmlns:a16="http://schemas.microsoft.com/office/drawing/2014/main" id="{C167A56C-5B9C-447A-8C75-AA3DD4E834E7}"/>
              </a:ext>
            </a:extLst>
          </p:cNvPr>
          <p:cNvSpPr>
            <a:spLocks noGrp="1"/>
          </p:cNvSpPr>
          <p:nvPr/>
        </p:nvSpPr>
        <p:spPr>
          <a:xfrm>
            <a:off x="495300" y="6029325"/>
            <a:ext cx="1057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825" b="0">
                <a:solidFill>
                  <a:srgbClr val="5D626D"/>
                </a:solidFill>
              </a:defRPr>
            </a:pPr>
            <a:r>
              <a:rPr sz="825" b="0">
                <a:solidFill>
                  <a:srgbClr val="5D626D"/>
                </a:solidFill>
              </a:rPr>
              <a:t>Current MVP: Studio exposes the control model; authenticated profile persistence requires final integration proof.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1EF14B-09AD-4081-BD9C-FCAE506E75AD}"/>
              </a:ext>
            </a:extLst>
          </p:cNvPr>
          <p:cNvSpPr>
            <a:spLocks noGrp="1"/>
          </p:cNvSpPr>
          <p:nvPr/>
        </p:nvSpPr>
        <p:spPr>
          <a:xfrm>
            <a:off x="495300" y="6343650"/>
            <a:ext cx="1120140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25" name="slide-8-repo">
            <a:extLst>
              <a:ext uri="{FF2B5EF4-FFF2-40B4-BE49-F238E27FC236}">
                <a16:creationId xmlns:a16="http://schemas.microsoft.com/office/drawing/2014/main" id="{418C4BD8-6934-4973-A10C-BECE8CD07644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l">
              <a:defRPr sz="750" b="0">
                <a:solidFill>
                  <a:srgbClr val="5D626D"/>
                </a:solidFill>
              </a:defRPr>
            </a:pPr>
            <a:r>
              <a:rPr sz="750" b="0">
                <a:solidFill>
                  <a:srgbClr val="5D626D"/>
                </a:solidFill>
              </a:rPr>
              <a:t>REPO LENS  src/streamer/  |  src/core/contracts/  |  src/quest-engine/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C21ED1-F4DB-44F0-B941-98B6B0B870F2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r">
              <a:defRPr sz="750" b="1">
                <a:solidFill>
                  <a:srgbClr val="5D626D"/>
                </a:solidFill>
              </a:defRPr>
            </a:pPr>
            <a:r>
              <a:rPr sz="750" b="1">
                <a:solidFill>
                  <a:srgbClr val="5D626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45360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-9-title">
            <a:extLst>
              <a:ext uri="{FF2B5EF4-FFF2-40B4-BE49-F238E27FC236}">
                <a16:creationId xmlns:a16="http://schemas.microsoft.com/office/drawing/2014/main" id="{44B4376E-EC02-4419-B525-C53473171F5E}"/>
              </a:ext>
            </a:extLst>
          </p:cNvPr>
          <p:cNvSpPr>
            <a:spLocks noGrp="1"/>
          </p:cNvSpPr>
          <p:nvPr/>
        </p:nvSpPr>
        <p:spPr>
          <a:xfrm>
            <a:off x="495300" y="381000"/>
            <a:ext cx="9334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301"/>
          </a:bodyPr>
          <a:lstStyle/>
          <a:p>
            <a:pPr algn="l">
              <a:defRPr sz="3225" b="1">
                <a:solidFill>
                  <a:srgbClr val="101014"/>
                </a:solidFill>
              </a:defRPr>
            </a:pPr>
            <a:r>
              <a:rPr sz="3225" b="1">
                <a:solidFill>
                  <a:srgbClr val="101014"/>
                </a:solidFill>
              </a:rPr>
              <a:t>Viewer agency turns watching into a shared decision</a:t>
            </a:r>
          </a:p>
        </p:txBody>
      </p:sp>
      <p:sp>
        <p:nvSpPr>
          <p:cNvPr id="2" name="slide-9-section">
            <a:extLst>
              <a:ext uri="{FF2B5EF4-FFF2-40B4-BE49-F238E27FC236}">
                <a16:creationId xmlns:a16="http://schemas.microsoft.com/office/drawing/2014/main" id="{A24863DB-B0FC-4156-AAB3-F145F92F635E}"/>
              </a:ext>
            </a:extLst>
          </p:cNvPr>
          <p:cNvSpPr>
            <a:spLocks noGrp="1"/>
          </p:cNvSpPr>
          <p:nvPr/>
        </p:nvSpPr>
        <p:spPr>
          <a:xfrm>
            <a:off x="10191750" y="447675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75" b="1">
                <a:solidFill>
                  <a:srgbClr val="7657FF"/>
                </a:solidFill>
              </a:defRPr>
            </a:pPr>
            <a:r>
              <a:rPr sz="975" b="1">
                <a:solidFill>
                  <a:srgbClr val="7657FF"/>
                </a:solidFill>
              </a:rPr>
              <a:t>USERS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58F4E19-F9E8-47A2-92DF-65F038EF52B2}"/>
              </a:ext>
            </a:extLst>
          </p:cNvPr>
          <p:cNvSpPr>
            <a:spLocks noGrp="1"/>
          </p:cNvSpPr>
          <p:nvPr/>
        </p:nvSpPr>
        <p:spPr>
          <a:xfrm>
            <a:off x="438150" y="1304925"/>
            <a:ext cx="2266950" cy="438150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9525">
            <a:solidFill>
              <a:srgbClr val="D8DBE2"/>
            </a:solidFill>
            <a:prstDash val="solid"/>
          </a:ln>
        </p:spPr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rcRect t="7522" b="7522"/>
          <a:stretch>
            <a:fillRect/>
          </a:stretch>
        </p:blipFill>
        <p:spPr>
          <a:xfrm>
            <a:off x="495300" y="1362075"/>
            <a:ext cx="2152650" cy="4267200"/>
          </a:xfrm>
          <a:prstGeom prst="roundRect">
            <a:avLst>
              <a:gd name="adj" fmla="val 3540"/>
            </a:avLst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B156F30-71C8-4D2E-A719-8563FEA2DE72}"/>
              </a:ext>
            </a:extLst>
          </p:cNvPr>
          <p:cNvSpPr>
            <a:spLocks noGrp="1"/>
          </p:cNvSpPr>
          <p:nvPr/>
        </p:nvSpPr>
        <p:spPr>
          <a:xfrm>
            <a:off x="2895600" y="1304925"/>
            <a:ext cx="4629150" cy="2657475"/>
          </a:xfrm>
          <a:prstGeom prst="roundRect">
            <a:avLst>
              <a:gd name="adj" fmla="val 2867"/>
            </a:avLst>
          </a:prstGeom>
          <a:solidFill>
            <a:srgbClr val="FFFFFF"/>
          </a:solidFill>
          <a:ln w="9525">
            <a:solidFill>
              <a:srgbClr val="D8DBE2"/>
            </a:solidFill>
            <a:prstDash val="solid"/>
          </a:ln>
        </p:spPr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rcRect l="70" r="70"/>
          <a:stretch>
            <a:fillRect/>
          </a:stretch>
        </p:blipFill>
        <p:spPr>
          <a:xfrm>
            <a:off x="2952750" y="1362075"/>
            <a:ext cx="4514850" cy="2543175"/>
          </a:xfrm>
          <a:prstGeom prst="roundRect">
            <a:avLst>
              <a:gd name="adj" fmla="val 2996"/>
            </a:avLst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200D0BD-9BB1-4693-B6C9-8701CD3DAC50}"/>
              </a:ext>
            </a:extLst>
          </p:cNvPr>
          <p:cNvSpPr>
            <a:spLocks noGrp="1"/>
          </p:cNvSpPr>
          <p:nvPr/>
        </p:nvSpPr>
        <p:spPr>
          <a:xfrm>
            <a:off x="2952750" y="4191000"/>
            <a:ext cx="1009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7657FF"/>
                </a:solidFill>
              </a:defRPr>
            </a:pPr>
            <a:r>
              <a:rPr sz="900" b="1">
                <a:solidFill>
                  <a:srgbClr val="7657FF"/>
                </a:solidFill>
              </a:rPr>
              <a:t>SEE THREE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E15649-D04B-4926-8651-22ACED7FFBBD}"/>
              </a:ext>
            </a:extLst>
          </p:cNvPr>
          <p:cNvSpPr>
            <a:spLocks noGrp="1"/>
          </p:cNvSpPr>
          <p:nvPr/>
        </p:nvSpPr>
        <p:spPr>
          <a:xfrm>
            <a:off x="4019550" y="4143375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34" lnSpcReduction="10000"/>
          </a:bodyPr>
          <a:lstStyle/>
          <a:p>
            <a:pPr algn="ctr">
              <a:defRPr sz="1875" b="1">
                <a:solidFill>
                  <a:srgbClr val="7657FF"/>
                </a:solidFill>
              </a:defRPr>
            </a:pPr>
            <a:r>
              <a:rPr sz="1875" b="1">
                <a:solidFill>
                  <a:srgbClr val="7657FF"/>
                </a:solidFill>
              </a:rPr>
              <a:t>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B00E74-DE81-48CD-AE98-77504C957B19}"/>
              </a:ext>
            </a:extLst>
          </p:cNvPr>
          <p:cNvSpPr>
            <a:spLocks noGrp="1"/>
          </p:cNvSpPr>
          <p:nvPr/>
        </p:nvSpPr>
        <p:spPr>
          <a:xfrm>
            <a:off x="4362450" y="4191000"/>
            <a:ext cx="704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7657FF"/>
                </a:solidFill>
              </a:defRPr>
            </a:pPr>
            <a:r>
              <a:rPr sz="900" b="1">
                <a:solidFill>
                  <a:srgbClr val="7657FF"/>
                </a:solidFill>
              </a:rPr>
              <a:t>VOTE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EFBFED-ED94-4A6A-A520-31B17CCD7A82}"/>
              </a:ext>
            </a:extLst>
          </p:cNvPr>
          <p:cNvSpPr>
            <a:spLocks noGrp="1"/>
          </p:cNvSpPr>
          <p:nvPr/>
        </p:nvSpPr>
        <p:spPr>
          <a:xfrm>
            <a:off x="5095875" y="4143375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34" lnSpcReduction="10000"/>
          </a:bodyPr>
          <a:lstStyle/>
          <a:p>
            <a:pPr algn="ctr">
              <a:defRPr sz="1875" b="1">
                <a:solidFill>
                  <a:srgbClr val="7657FF"/>
                </a:solidFill>
              </a:defRPr>
            </a:pPr>
            <a:r>
              <a:rPr sz="1875" b="1">
                <a:solidFill>
                  <a:srgbClr val="7657FF"/>
                </a:solidFill>
              </a:rPr>
              <a:t>&gt;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46F11E-AB53-4B60-B081-962B210C3F6E}"/>
              </a:ext>
            </a:extLst>
          </p:cNvPr>
          <p:cNvSpPr>
            <a:spLocks noGrp="1"/>
          </p:cNvSpPr>
          <p:nvPr/>
        </p:nvSpPr>
        <p:spPr>
          <a:xfrm>
            <a:off x="5429250" y="4191000"/>
            <a:ext cx="1162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7657FF"/>
                </a:solidFill>
              </a:defRPr>
            </a:pPr>
            <a:r>
              <a:rPr sz="900" b="1">
                <a:solidFill>
                  <a:srgbClr val="7657FF"/>
                </a:solidFill>
              </a:rPr>
              <a:t>ACKNOWLEDGE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60E6A8-4ABA-4D38-B745-66B220949F44}"/>
              </a:ext>
            </a:extLst>
          </p:cNvPr>
          <p:cNvSpPr>
            <a:spLocks noGrp="1"/>
          </p:cNvSpPr>
          <p:nvPr/>
        </p:nvSpPr>
        <p:spPr>
          <a:xfrm>
            <a:off x="6638925" y="4143375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34" lnSpcReduction="10000"/>
          </a:bodyPr>
          <a:lstStyle/>
          <a:p>
            <a:pPr algn="ctr">
              <a:defRPr sz="1875" b="1">
                <a:solidFill>
                  <a:srgbClr val="7657FF"/>
                </a:solidFill>
              </a:defRPr>
            </a:pPr>
            <a:r>
              <a:rPr sz="1875" b="1">
                <a:solidFill>
                  <a:srgbClr val="7657FF"/>
                </a:solidFill>
              </a:rPr>
              <a:t>&gt;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8F2A17-2F9F-4D6B-864A-1E65A6045D65}"/>
              </a:ext>
            </a:extLst>
          </p:cNvPr>
          <p:cNvSpPr>
            <a:spLocks noGrp="1"/>
          </p:cNvSpPr>
          <p:nvPr/>
        </p:nvSpPr>
        <p:spPr>
          <a:xfrm>
            <a:off x="6953250" y="4191000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7657FF"/>
                </a:solidFill>
              </a:defRPr>
            </a:pPr>
            <a:r>
              <a:rPr sz="900" b="1">
                <a:solidFill>
                  <a:srgbClr val="7657FF"/>
                </a:solidFill>
              </a:rPr>
              <a:t>WATCH RESULT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BA8BD5-6CD3-4984-8BFA-C73FB759C75F}"/>
              </a:ext>
            </a:extLst>
          </p:cNvPr>
          <p:cNvSpPr>
            <a:spLocks noGrp="1"/>
          </p:cNvSpPr>
          <p:nvPr/>
        </p:nvSpPr>
        <p:spPr>
          <a:xfrm>
            <a:off x="7962900" y="1504950"/>
            <a:ext cx="3733800" cy="1457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1">
                <a:solidFill>
                  <a:srgbClr val="101014"/>
                </a:solidFill>
              </a:defRPr>
            </a:pPr>
            <a:r>
              <a:rPr sz="1425" b="1">
                <a:solidFill>
                  <a:srgbClr val="101014"/>
                </a:solidFill>
              </a:rPr>
              <a:t>Research on 2,227 Twitch users found that social interaction and sense of community help explain engagement, with stronger social motivations among viewers who preferred smaller channels.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B59D6A-A3D2-4331-BC7B-56C9DA8BAD47}"/>
              </a:ext>
            </a:extLst>
          </p:cNvPr>
          <p:cNvSpPr>
            <a:spLocks noGrp="1"/>
          </p:cNvSpPr>
          <p:nvPr/>
        </p:nvSpPr>
        <p:spPr>
          <a:xfrm>
            <a:off x="7962900" y="3209925"/>
            <a:ext cx="37338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D626D"/>
                </a:solidFill>
              </a:defRPr>
            </a:pPr>
            <a:r>
              <a:rPr sz="1275" b="0">
                <a:solidFill>
                  <a:srgbClr val="5D626D"/>
                </a:solidFill>
              </a:rPr>
              <a:t>The MVP therefore measures accepted-vote participation first. Belonging, retention, and return behaviour remain hypotheses to test, not claimed outcomes.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694A43E-7058-47EC-8999-1FF334E70435}"/>
              </a:ext>
            </a:extLst>
          </p:cNvPr>
          <p:cNvSpPr>
            <a:spLocks noGrp="1"/>
          </p:cNvSpPr>
          <p:nvPr/>
        </p:nvSpPr>
        <p:spPr>
          <a:xfrm>
            <a:off x="7962900" y="4695825"/>
            <a:ext cx="3733800" cy="809625"/>
          </a:xfrm>
          <a:prstGeom prst="roundRect">
            <a:avLst>
              <a:gd name="adj" fmla="val 9412"/>
            </a:avLst>
          </a:prstGeom>
          <a:solidFill>
            <a:srgbClr val="EEEAFE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4B4612-E66F-4172-82FA-C3481A598DFC}"/>
              </a:ext>
            </a:extLst>
          </p:cNvPr>
          <p:cNvSpPr>
            <a:spLocks noGrp="1"/>
          </p:cNvSpPr>
          <p:nvPr/>
        </p:nvSpPr>
        <p:spPr>
          <a:xfrm>
            <a:off x="8153400" y="48577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 lnSpcReduction="10000"/>
          </a:bodyPr>
          <a:lstStyle/>
          <a:p>
            <a:pPr algn="l">
              <a:defRPr sz="900" b="1">
                <a:solidFill>
                  <a:srgbClr val="7657FF"/>
                </a:solidFill>
              </a:defRPr>
            </a:pPr>
            <a:r>
              <a:rPr sz="900" b="1">
                <a:solidFill>
                  <a:srgbClr val="7657FF"/>
                </a:solidFill>
              </a:rPr>
              <a:t>Primary KPI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BA4B21-C013-4F0D-BC7A-EF862BE27AE1}"/>
              </a:ext>
            </a:extLst>
          </p:cNvPr>
          <p:cNvSpPr>
            <a:spLocks noGrp="1"/>
          </p:cNvSpPr>
          <p:nvPr/>
        </p:nvSpPr>
        <p:spPr>
          <a:xfrm>
            <a:off x="8153400" y="5114925"/>
            <a:ext cx="32004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484" lnSpcReduction="10000"/>
          </a:bodyPr>
          <a:lstStyle/>
          <a:p>
            <a:pPr algn="l">
              <a:defRPr sz="1575" b="1">
                <a:solidFill>
                  <a:srgbClr val="101014"/>
                </a:solidFill>
              </a:defRPr>
            </a:pPr>
            <a:r>
              <a:rPr sz="1575" b="1">
                <a:solidFill>
                  <a:srgbClr val="101014"/>
                </a:solidFill>
              </a:rPr>
              <a:t>Viewer participation rate</a:t>
            </a:r>
          </a:p>
        </p:txBody>
      </p:sp>
      <p:sp>
        <p:nvSpPr>
          <p:cNvPr id="19" name="slide-9-evidence">
            <a:extLst>
              <a:ext uri="{FF2B5EF4-FFF2-40B4-BE49-F238E27FC236}">
                <a16:creationId xmlns:a16="http://schemas.microsoft.com/office/drawing/2014/main" id="{4CDDE8B6-520B-45DC-B635-AA7495A654A8}"/>
              </a:ext>
            </a:extLst>
          </p:cNvPr>
          <p:cNvSpPr>
            <a:spLocks noGrp="1"/>
          </p:cNvSpPr>
          <p:nvPr/>
        </p:nvSpPr>
        <p:spPr>
          <a:xfrm>
            <a:off x="495300" y="6029325"/>
            <a:ext cx="1057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825" b="0">
                <a:solidFill>
                  <a:srgbClr val="5D626D"/>
                </a:solidFill>
              </a:defRPr>
            </a:pPr>
            <a:r>
              <a:rPr sz="825" b="0">
                <a:solidFill>
                  <a:srgbClr val="5D626D"/>
                </a:solidFill>
              </a:rPr>
              <a:t>Research: Hilvert-Bruce et al., 2018; participation-at-scale study. Compact surface is fixture-only.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176E58-8400-4305-B08E-6D420CB90CE7}"/>
              </a:ext>
            </a:extLst>
          </p:cNvPr>
          <p:cNvSpPr>
            <a:spLocks noGrp="1"/>
          </p:cNvSpPr>
          <p:nvPr/>
        </p:nvSpPr>
        <p:spPr>
          <a:xfrm>
            <a:off x="495300" y="6343650"/>
            <a:ext cx="1120140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21" name="slide-9-repo">
            <a:extLst>
              <a:ext uri="{FF2B5EF4-FFF2-40B4-BE49-F238E27FC236}">
                <a16:creationId xmlns:a16="http://schemas.microsoft.com/office/drawing/2014/main" id="{7DED88CF-F0D4-4A58-89AC-B8BEEFC9085C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l">
              <a:defRPr sz="750" b="0">
                <a:solidFill>
                  <a:srgbClr val="5D626D"/>
                </a:solidFill>
              </a:defRPr>
            </a:pPr>
            <a:r>
              <a:rPr sz="750" b="0">
                <a:solidFill>
                  <a:srgbClr val="5D626D"/>
                </a:solidFill>
              </a:rPr>
              <a:t>REPO LENS  src/viewer/  |  src/realtime/  |  docs/DECISIONS.md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8304D7-4A85-4F97-A949-2A892E692721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r">
              <a:defRPr sz="750" b="1">
                <a:solidFill>
                  <a:srgbClr val="5D626D"/>
                </a:solidFill>
              </a:defRPr>
            </a:pPr>
            <a:r>
              <a:rPr sz="750" b="1">
                <a:solidFill>
                  <a:srgbClr val="5D626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00118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10-title">
            <a:extLst>
              <a:ext uri="{FF2B5EF4-FFF2-40B4-BE49-F238E27FC236}">
                <a16:creationId xmlns:a16="http://schemas.microsoft.com/office/drawing/2014/main" id="{7E8CA037-E026-4C87-B872-B867BF01DDE2}"/>
              </a:ext>
            </a:extLst>
          </p:cNvPr>
          <p:cNvSpPr>
            <a:spLocks noGrp="1"/>
          </p:cNvSpPr>
          <p:nvPr/>
        </p:nvSpPr>
        <p:spPr>
          <a:xfrm>
            <a:off x="495300" y="381000"/>
            <a:ext cx="9334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760"/>
          </a:bodyPr>
          <a:lstStyle/>
          <a:p>
            <a:pPr algn="l">
              <a:defRPr sz="2925" b="1">
                <a:solidFill>
                  <a:srgbClr val="101014"/>
                </a:solidFill>
              </a:defRPr>
            </a:pPr>
            <a:r>
              <a:rPr sz="2925" b="1">
                <a:solidFill>
                  <a:srgbClr val="101014"/>
                </a:solidFill>
              </a:rPr>
              <a:t>One interaction creates value across the livestream ecosystem</a:t>
            </a:r>
          </a:p>
        </p:txBody>
      </p:sp>
      <p:sp>
        <p:nvSpPr>
          <p:cNvPr id="2" name="slide-10-section">
            <a:extLst>
              <a:ext uri="{FF2B5EF4-FFF2-40B4-BE49-F238E27FC236}">
                <a16:creationId xmlns:a16="http://schemas.microsoft.com/office/drawing/2014/main" id="{F408044A-B2E4-48CE-8E15-6F5B03BB9134}"/>
              </a:ext>
            </a:extLst>
          </p:cNvPr>
          <p:cNvSpPr>
            <a:spLocks noGrp="1"/>
          </p:cNvSpPr>
          <p:nvPr/>
        </p:nvSpPr>
        <p:spPr>
          <a:xfrm>
            <a:off x="10191750" y="447675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75" b="1">
                <a:solidFill>
                  <a:srgbClr val="7657FF"/>
                </a:solidFill>
              </a:defRPr>
            </a:pPr>
            <a:r>
              <a:rPr sz="975" b="1">
                <a:solidFill>
                  <a:srgbClr val="7657FF"/>
                </a:solidFill>
              </a:rPr>
              <a:t>USERS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A5C890-94E1-4134-8C50-E6DC7279577E}"/>
              </a:ext>
            </a:extLst>
          </p:cNvPr>
          <p:cNvSpPr>
            <a:spLocks noGrp="1"/>
          </p:cNvSpPr>
          <p:nvPr/>
        </p:nvSpPr>
        <p:spPr>
          <a:xfrm>
            <a:off x="495300" y="1533525"/>
            <a:ext cx="3276600" cy="47625"/>
          </a:xfrm>
          <a:prstGeom prst="rect">
            <a:avLst/>
          </a:prstGeom>
          <a:solidFill>
            <a:srgbClr val="F45B7A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CB61F-43AA-4A28-BD51-9187D7E99881}"/>
              </a:ext>
            </a:extLst>
          </p:cNvPr>
          <p:cNvSpPr>
            <a:spLocks noGrp="1"/>
          </p:cNvSpPr>
          <p:nvPr/>
        </p:nvSpPr>
        <p:spPr>
          <a:xfrm>
            <a:off x="495300" y="1790700"/>
            <a:ext cx="3276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75" b="1">
                <a:solidFill>
                  <a:srgbClr val="F45B7A"/>
                </a:solidFill>
              </a:defRPr>
            </a:pPr>
            <a:r>
              <a:rPr sz="975" b="1">
                <a:solidFill>
                  <a:srgbClr val="F45B7A"/>
                </a:solidFill>
              </a:rPr>
              <a:t>STREAMER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FF093D-AF77-4963-9698-5DA0A0B01445}"/>
              </a:ext>
            </a:extLst>
          </p:cNvPr>
          <p:cNvSpPr>
            <a:spLocks noGrp="1"/>
          </p:cNvSpPr>
          <p:nvPr/>
        </p:nvSpPr>
        <p:spPr>
          <a:xfrm>
            <a:off x="495300" y="2209800"/>
            <a:ext cx="3276600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061"/>
          </a:bodyPr>
          <a:lstStyle/>
          <a:p>
            <a:pPr algn="l">
              <a:defRPr sz="1650" b="1">
                <a:solidFill>
                  <a:srgbClr val="101014"/>
                </a:solidFill>
              </a:defRPr>
            </a:pPr>
            <a:r>
              <a:rPr sz="1650" b="1">
                <a:solidFill>
                  <a:srgbClr val="101014"/>
                </a:solidFill>
              </a:rPr>
              <a:t>Turn a quiet or intense moment into a structured challenge without stopping to invent one.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8528A7-725E-4E07-9E08-552F503305B2}"/>
              </a:ext>
            </a:extLst>
          </p:cNvPr>
          <p:cNvSpPr>
            <a:spLocks noGrp="1"/>
          </p:cNvSpPr>
          <p:nvPr/>
        </p:nvSpPr>
        <p:spPr>
          <a:xfrm>
            <a:off x="495300" y="3524250"/>
            <a:ext cx="3276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26D"/>
                </a:solidFill>
              </a:defRPr>
            </a:pPr>
            <a:r>
              <a:rPr sz="1200" b="0">
                <a:solidFill>
                  <a:srgbClr val="5D626D"/>
                </a:solidFill>
              </a:rPr>
              <a:t>Measure setup time, control burden, veto rate, completion.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8F5214-6B34-47E9-AB44-83055B2AD264}"/>
              </a:ext>
            </a:extLst>
          </p:cNvPr>
          <p:cNvSpPr>
            <a:spLocks noGrp="1"/>
          </p:cNvSpPr>
          <p:nvPr/>
        </p:nvSpPr>
        <p:spPr>
          <a:xfrm>
            <a:off x="4305300" y="1533525"/>
            <a:ext cx="3276600" cy="47625"/>
          </a:xfrm>
          <a:prstGeom prst="rect">
            <a:avLst/>
          </a:prstGeom>
          <a:solidFill>
            <a:srgbClr val="7657FF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638DF2-E27E-41D1-BDC3-2873CCBF1ED2}"/>
              </a:ext>
            </a:extLst>
          </p:cNvPr>
          <p:cNvSpPr>
            <a:spLocks noGrp="1"/>
          </p:cNvSpPr>
          <p:nvPr/>
        </p:nvSpPr>
        <p:spPr>
          <a:xfrm>
            <a:off x="4305300" y="1790700"/>
            <a:ext cx="3276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75" b="1">
                <a:solidFill>
                  <a:srgbClr val="7657FF"/>
                </a:solidFill>
              </a:defRPr>
            </a:pPr>
            <a:r>
              <a:rPr sz="975" b="1">
                <a:solidFill>
                  <a:srgbClr val="7657FF"/>
                </a:solidFill>
              </a:rPr>
              <a:t>VIEWER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3BD111-4B93-4A7F-B474-2DB8083B76B4}"/>
              </a:ext>
            </a:extLst>
          </p:cNvPr>
          <p:cNvSpPr>
            <a:spLocks noGrp="1"/>
          </p:cNvSpPr>
          <p:nvPr/>
        </p:nvSpPr>
        <p:spPr>
          <a:xfrm>
            <a:off x="4305300" y="2209800"/>
            <a:ext cx="3276600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101014"/>
                </a:solidFill>
              </a:defRPr>
            </a:pPr>
            <a:r>
              <a:rPr sz="1650" b="1">
                <a:solidFill>
                  <a:srgbClr val="101014"/>
                </a:solidFill>
              </a:rPr>
              <a:t>Influence the next moment without leaving Twitch or creating a separate account.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32BD46-3063-4F85-B79D-423015A824E9}"/>
              </a:ext>
            </a:extLst>
          </p:cNvPr>
          <p:cNvSpPr>
            <a:spLocks noGrp="1"/>
          </p:cNvSpPr>
          <p:nvPr/>
        </p:nvSpPr>
        <p:spPr>
          <a:xfrm>
            <a:off x="4305300" y="3524250"/>
            <a:ext cx="3276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26D"/>
                </a:solidFill>
              </a:defRPr>
            </a:pPr>
            <a:r>
              <a:rPr sz="1200" b="0">
                <a:solidFill>
                  <a:srgbClr val="5D626D"/>
                </a:solidFill>
              </a:rPr>
              <a:t>Measure participation, vote completion, reconnect, reactions.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0B53B6-1542-4A9A-A4D8-0BDD62800798}"/>
              </a:ext>
            </a:extLst>
          </p:cNvPr>
          <p:cNvSpPr>
            <a:spLocks noGrp="1"/>
          </p:cNvSpPr>
          <p:nvPr/>
        </p:nvSpPr>
        <p:spPr>
          <a:xfrm>
            <a:off x="8115300" y="1533525"/>
            <a:ext cx="3276600" cy="47625"/>
          </a:xfrm>
          <a:prstGeom prst="rect">
            <a:avLst/>
          </a:prstGeom>
          <a:solidFill>
            <a:srgbClr val="34BDEB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3058AB-49B0-4EB4-A745-791ACC5C2612}"/>
              </a:ext>
            </a:extLst>
          </p:cNvPr>
          <p:cNvSpPr>
            <a:spLocks noGrp="1"/>
          </p:cNvSpPr>
          <p:nvPr/>
        </p:nvSpPr>
        <p:spPr>
          <a:xfrm>
            <a:off x="8115300" y="1790700"/>
            <a:ext cx="3276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75" b="1">
                <a:solidFill>
                  <a:srgbClr val="34BDEB"/>
                </a:solidFill>
              </a:defRPr>
            </a:pPr>
            <a:r>
              <a:rPr sz="975" b="1">
                <a:solidFill>
                  <a:srgbClr val="34BDEB"/>
                </a:solidFill>
              </a:rPr>
              <a:t>PLATFORM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4FD13B-C639-4614-8AC3-E78F206C4244}"/>
              </a:ext>
            </a:extLst>
          </p:cNvPr>
          <p:cNvSpPr>
            <a:spLocks noGrp="1"/>
          </p:cNvSpPr>
          <p:nvPr/>
        </p:nvSpPr>
        <p:spPr>
          <a:xfrm>
            <a:off x="8115300" y="2209800"/>
            <a:ext cx="3276600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101014"/>
                </a:solidFill>
              </a:defRPr>
            </a:pPr>
            <a:r>
              <a:rPr sz="1650" b="1">
                <a:solidFill>
                  <a:srgbClr val="101014"/>
                </a:solidFill>
              </a:rPr>
              <a:t>Add differentiated, on-platform interactivity around existing live video.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C02434-048D-4AD0-A100-955EF40196AA}"/>
              </a:ext>
            </a:extLst>
          </p:cNvPr>
          <p:cNvSpPr>
            <a:spLocks noGrp="1"/>
          </p:cNvSpPr>
          <p:nvPr/>
        </p:nvSpPr>
        <p:spPr>
          <a:xfrm>
            <a:off x="8115300" y="3524250"/>
            <a:ext cx="3276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26D"/>
                </a:solidFill>
              </a:defRPr>
            </a:pPr>
            <a:r>
              <a:rPr sz="1200" b="0">
                <a:solidFill>
                  <a:srgbClr val="5D626D"/>
                </a:solidFill>
              </a:rPr>
              <a:t>Evaluate watch, follow, and support outcomes later.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301A339-82D6-4E0E-9224-34AEBA4A8090}"/>
              </a:ext>
            </a:extLst>
          </p:cNvPr>
          <p:cNvSpPr>
            <a:spLocks noGrp="1"/>
          </p:cNvSpPr>
          <p:nvPr/>
        </p:nvSpPr>
        <p:spPr>
          <a:xfrm>
            <a:off x="495300" y="4638675"/>
            <a:ext cx="11201400" cy="1066800"/>
          </a:xfrm>
          <a:prstGeom prst="roundRect">
            <a:avLst>
              <a:gd name="adj" fmla="val 7143"/>
            </a:avLst>
          </a:prstGeom>
          <a:solidFill>
            <a:srgbClr val="0D0B14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5D6986-FFE1-4668-A1AD-DC2DAC867A9D}"/>
              </a:ext>
            </a:extLst>
          </p:cNvPr>
          <p:cNvSpPr>
            <a:spLocks noGrp="1"/>
          </p:cNvSpPr>
          <p:nvPr/>
        </p:nvSpPr>
        <p:spPr>
          <a:xfrm>
            <a:off x="723900" y="48577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C9F53B"/>
                </a:solidFill>
              </a:defRPr>
            </a:pPr>
            <a:r>
              <a:rPr sz="900" b="1">
                <a:solidFill>
                  <a:srgbClr val="C9F53B"/>
                </a:solidFill>
              </a:rPr>
              <a:t>RESEARCH-BACKED HYPOTHESIS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078FDE-7403-4868-8A31-B2322C98A163}"/>
              </a:ext>
            </a:extLst>
          </p:cNvPr>
          <p:cNvSpPr>
            <a:spLocks noGrp="1"/>
          </p:cNvSpPr>
          <p:nvPr/>
        </p:nvSpPr>
        <p:spPr>
          <a:xfrm>
            <a:off x="3105150" y="4819650"/>
            <a:ext cx="8210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Live viewing can strengthen presence and connection; activated engagement is associated with virtual gifting. ChatXPT must still measure its own uplift before claiming retention or earnings impact.</a:t>
            </a:r>
          </a:p>
        </p:txBody>
      </p:sp>
      <p:sp>
        <p:nvSpPr>
          <p:cNvPr id="18" name="slide-10-evidence">
            <a:extLst>
              <a:ext uri="{FF2B5EF4-FFF2-40B4-BE49-F238E27FC236}">
                <a16:creationId xmlns:a16="http://schemas.microsoft.com/office/drawing/2014/main" id="{0DC55463-7E8B-4F7E-9BDA-CA31177B6BB4}"/>
              </a:ext>
            </a:extLst>
          </p:cNvPr>
          <p:cNvSpPr>
            <a:spLocks noGrp="1"/>
          </p:cNvSpPr>
          <p:nvPr/>
        </p:nvSpPr>
        <p:spPr>
          <a:xfrm>
            <a:off x="495300" y="6029325"/>
            <a:ext cx="1057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825" b="0">
                <a:solidFill>
                  <a:srgbClr val="5D626D"/>
                </a:solidFill>
              </a:defRPr>
            </a:pPr>
            <a:r>
              <a:rPr sz="825" b="0">
                <a:solidFill>
                  <a:srgbClr val="5D626D"/>
                </a:solidFill>
              </a:rPr>
              <a:t>Evidence: Duani, Barasch &amp; Ward, 2026; Chokpaisan et al., 2026. No guaranteed uplift claim.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A9F5D9-D88A-4990-A42D-2EA893D519CC}"/>
              </a:ext>
            </a:extLst>
          </p:cNvPr>
          <p:cNvSpPr>
            <a:spLocks noGrp="1"/>
          </p:cNvSpPr>
          <p:nvPr/>
        </p:nvSpPr>
        <p:spPr>
          <a:xfrm>
            <a:off x="495300" y="6343650"/>
            <a:ext cx="1120140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20" name="slide-10-repo">
            <a:extLst>
              <a:ext uri="{FF2B5EF4-FFF2-40B4-BE49-F238E27FC236}">
                <a16:creationId xmlns:a16="http://schemas.microsoft.com/office/drawing/2014/main" id="{CB222390-EAF2-4557-8A5E-A2E4505096FD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l">
              <a:defRPr sz="750" b="0">
                <a:solidFill>
                  <a:srgbClr val="5D626D"/>
                </a:solidFill>
              </a:defRPr>
            </a:pPr>
            <a:r>
              <a:rPr sz="750" b="0">
                <a:solidFill>
                  <a:srgbClr val="5D626D"/>
                </a:solidFill>
              </a:rPr>
              <a:t>REPO LENS  docs/DECISIONS.md  |  docs/evidence/manifest.json  |  src/viewer/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6C25DC-87A4-4F53-B30E-0724DE4E4316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r">
              <a:defRPr sz="750" b="1">
                <a:solidFill>
                  <a:srgbClr val="5D626D"/>
                </a:solidFill>
              </a:defRPr>
            </a:pPr>
            <a:r>
              <a:rPr sz="750" b="1">
                <a:solidFill>
                  <a:srgbClr val="5D626D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59460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-11-title">
            <a:extLst>
              <a:ext uri="{FF2B5EF4-FFF2-40B4-BE49-F238E27FC236}">
                <a16:creationId xmlns:a16="http://schemas.microsoft.com/office/drawing/2014/main" id="{CB178631-71CC-44AE-9436-047A7F154751}"/>
              </a:ext>
            </a:extLst>
          </p:cNvPr>
          <p:cNvSpPr>
            <a:spLocks noGrp="1"/>
          </p:cNvSpPr>
          <p:nvPr/>
        </p:nvSpPr>
        <p:spPr>
          <a:xfrm>
            <a:off x="495300" y="381000"/>
            <a:ext cx="9334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420"/>
          </a:bodyPr>
          <a:lstStyle/>
          <a:p>
            <a:pPr algn="l">
              <a:defRPr sz="2850" b="1">
                <a:solidFill>
                  <a:srgbClr val="101014"/>
                </a:solidFill>
              </a:defRPr>
            </a:pPr>
            <a:r>
              <a:rPr sz="2850" b="1">
                <a:solidFill>
                  <a:srgbClr val="101014"/>
                </a:solidFill>
              </a:rPr>
              <a:t>OBS intelligence creates honest, confidence-scored AI context</a:t>
            </a:r>
          </a:p>
        </p:txBody>
      </p:sp>
      <p:sp>
        <p:nvSpPr>
          <p:cNvPr id="2" name="slide-11-section">
            <a:extLst>
              <a:ext uri="{FF2B5EF4-FFF2-40B4-BE49-F238E27FC236}">
                <a16:creationId xmlns:a16="http://schemas.microsoft.com/office/drawing/2014/main" id="{60A0C656-A0E4-446C-A10F-B4DF8B49478B}"/>
              </a:ext>
            </a:extLst>
          </p:cNvPr>
          <p:cNvSpPr>
            <a:spLocks noGrp="1"/>
          </p:cNvSpPr>
          <p:nvPr/>
        </p:nvSpPr>
        <p:spPr>
          <a:xfrm>
            <a:off x="10191750" y="447675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75" b="1">
                <a:solidFill>
                  <a:srgbClr val="7657FF"/>
                </a:solidFill>
              </a:defRPr>
            </a:pPr>
            <a:r>
              <a:rPr sz="975" b="1">
                <a:solidFill>
                  <a:srgbClr val="7657FF"/>
                </a:solidFill>
              </a:rPr>
              <a:t>MECHANISM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11C80D-E413-4B7B-AC30-72B15258BEF7}"/>
              </a:ext>
            </a:extLst>
          </p:cNvPr>
          <p:cNvSpPr>
            <a:spLocks noGrp="1"/>
          </p:cNvSpPr>
          <p:nvPr/>
        </p:nvSpPr>
        <p:spPr>
          <a:xfrm>
            <a:off x="495300" y="128587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7657FF"/>
                </a:solidFill>
              </a:defRPr>
            </a:pPr>
            <a:r>
              <a:rPr sz="900" b="1">
                <a:solidFill>
                  <a:srgbClr val="7657FF"/>
                </a:solidFill>
              </a:rPr>
              <a:t>THREE INPUTS STAY DISTINCT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D75693A-4BDC-4C47-BA98-5A785FB46B83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2476500" cy="1200150"/>
          </a:xfrm>
          <a:prstGeom prst="roundRect">
            <a:avLst>
              <a:gd name="adj" fmla="val 6349"/>
            </a:avLst>
          </a:prstGeom>
          <a:solidFill>
            <a:srgbClr val="E4F7FD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8CD281-6B8C-426B-9016-6F2F0C27CC11}"/>
              </a:ext>
            </a:extLst>
          </p:cNvPr>
          <p:cNvSpPr>
            <a:spLocks noGrp="1"/>
          </p:cNvSpPr>
          <p:nvPr/>
        </p:nvSpPr>
        <p:spPr>
          <a:xfrm>
            <a:off x="666750" y="1771650"/>
            <a:ext cx="323850" cy="38100"/>
          </a:xfrm>
          <a:prstGeom prst="rect">
            <a:avLst/>
          </a:prstGeom>
          <a:solidFill>
            <a:srgbClr val="34BDEB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92F57B-1A08-4CCD-BE27-F729837ED78D}"/>
              </a:ext>
            </a:extLst>
          </p:cNvPr>
          <p:cNvSpPr>
            <a:spLocks noGrp="1"/>
          </p:cNvSpPr>
          <p:nvPr/>
        </p:nvSpPr>
        <p:spPr>
          <a:xfrm>
            <a:off x="666750" y="192405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OBS FRAMES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1CC702-864D-46E3-AC81-3ADA6EB8808B}"/>
              </a:ext>
            </a:extLst>
          </p:cNvPr>
          <p:cNvSpPr>
            <a:spLocks noGrp="1"/>
          </p:cNvSpPr>
          <p:nvPr/>
        </p:nvSpPr>
        <p:spPr>
          <a:xfrm>
            <a:off x="666750" y="2247900"/>
            <a:ext cx="2133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75" b="0">
                <a:solidFill>
                  <a:srgbClr val="5D626D"/>
                </a:solidFill>
              </a:defRPr>
            </a:pPr>
            <a:r>
              <a:rPr sz="975" b="0">
                <a:solidFill>
                  <a:srgbClr val="5D626D"/>
                </a:solidFill>
              </a:rPr>
              <a:t>motion, activity, quiet, transitions, bounded OCR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5527DE0-C4E7-4449-BA08-398920A8A283}"/>
              </a:ext>
            </a:extLst>
          </p:cNvPr>
          <p:cNvSpPr>
            <a:spLocks noGrp="1"/>
          </p:cNvSpPr>
          <p:nvPr/>
        </p:nvSpPr>
        <p:spPr>
          <a:xfrm>
            <a:off x="3305175" y="1619250"/>
            <a:ext cx="2476500" cy="1200150"/>
          </a:xfrm>
          <a:prstGeom prst="roundRect">
            <a:avLst>
              <a:gd name="adj" fmla="val 6349"/>
            </a:avLst>
          </a:prstGeom>
          <a:solidFill>
            <a:srgbClr val="FCE8ED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FD083C-D86B-435C-9A90-C5953AD95707}"/>
              </a:ext>
            </a:extLst>
          </p:cNvPr>
          <p:cNvSpPr>
            <a:spLocks noGrp="1"/>
          </p:cNvSpPr>
          <p:nvPr/>
        </p:nvSpPr>
        <p:spPr>
          <a:xfrm>
            <a:off x="3476625" y="1771650"/>
            <a:ext cx="323850" cy="38100"/>
          </a:xfrm>
          <a:prstGeom prst="rect">
            <a:avLst/>
          </a:prstGeom>
          <a:solidFill>
            <a:srgbClr val="F45B7A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4E8464-00D5-4629-912D-B1F59EF8AF51}"/>
              </a:ext>
            </a:extLst>
          </p:cNvPr>
          <p:cNvSpPr>
            <a:spLocks noGrp="1"/>
          </p:cNvSpPr>
          <p:nvPr/>
        </p:nvSpPr>
        <p:spPr>
          <a:xfrm>
            <a:off x="3476625" y="192405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AUDIENCE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42729E-1845-4608-B423-AEBCC69829DE}"/>
              </a:ext>
            </a:extLst>
          </p:cNvPr>
          <p:cNvSpPr>
            <a:spLocks noGrp="1"/>
          </p:cNvSpPr>
          <p:nvPr/>
        </p:nvSpPr>
        <p:spPr>
          <a:xfrm>
            <a:off x="3476625" y="2247900"/>
            <a:ext cx="2133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75" b="0">
                <a:solidFill>
                  <a:srgbClr val="5D626D"/>
                </a:solidFill>
              </a:defRPr>
            </a:pPr>
            <a:r>
              <a:rPr sz="975" b="0">
                <a:solidFill>
                  <a:srgbClr val="5D626D"/>
                </a:solidFill>
              </a:rPr>
              <a:t>chat energy, humour, boredom, requests, moderation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5293449-C638-4081-A345-27043367EC81}"/>
              </a:ext>
            </a:extLst>
          </p:cNvPr>
          <p:cNvSpPr>
            <a:spLocks noGrp="1"/>
          </p:cNvSpPr>
          <p:nvPr/>
        </p:nvSpPr>
        <p:spPr>
          <a:xfrm>
            <a:off x="6115050" y="1619250"/>
            <a:ext cx="2476500" cy="1200150"/>
          </a:xfrm>
          <a:prstGeom prst="roundRect">
            <a:avLst>
              <a:gd name="adj" fmla="val 6349"/>
            </a:avLst>
          </a:prstGeom>
          <a:solidFill>
            <a:srgbClr val="EEEAFE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1A0AD3-4592-42D0-A2FC-9D2139827056}"/>
              </a:ext>
            </a:extLst>
          </p:cNvPr>
          <p:cNvSpPr>
            <a:spLocks noGrp="1"/>
          </p:cNvSpPr>
          <p:nvPr/>
        </p:nvSpPr>
        <p:spPr>
          <a:xfrm>
            <a:off x="6286500" y="1771650"/>
            <a:ext cx="323850" cy="38100"/>
          </a:xfrm>
          <a:prstGeom prst="rect">
            <a:avLst/>
          </a:prstGeom>
          <a:solidFill>
            <a:srgbClr val="7657F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9407ED-564B-4857-97A4-6FCE3D132A26}"/>
              </a:ext>
            </a:extLst>
          </p:cNvPr>
          <p:cNvSpPr>
            <a:spLocks noGrp="1"/>
          </p:cNvSpPr>
          <p:nvPr/>
        </p:nvSpPr>
        <p:spPr>
          <a:xfrm>
            <a:off x="6286500" y="192405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STREAMER PROFILE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FA29DA-4751-45D3-A11B-4CD09CA5A819}"/>
              </a:ext>
            </a:extLst>
          </p:cNvPr>
          <p:cNvSpPr>
            <a:spLocks noGrp="1"/>
          </p:cNvSpPr>
          <p:nvPr/>
        </p:nvSpPr>
        <p:spPr>
          <a:xfrm>
            <a:off x="6286500" y="2247900"/>
            <a:ext cx="2133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75" b="0">
                <a:solidFill>
                  <a:srgbClr val="5D626D"/>
                </a:solidFill>
              </a:defRPr>
            </a:pPr>
            <a:r>
              <a:rPr sz="975" b="0">
                <a:solidFill>
                  <a:srgbClr val="5D626D"/>
                </a:solidFill>
              </a:rPr>
              <a:t>style, intensity, boundaries, game capability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0A2ED3-F1A4-4B16-ACB8-36B5421C8893}"/>
              </a:ext>
            </a:extLst>
          </p:cNvPr>
          <p:cNvSpPr>
            <a:spLocks noGrp="1"/>
          </p:cNvSpPr>
          <p:nvPr/>
        </p:nvSpPr>
        <p:spPr>
          <a:xfrm>
            <a:off x="8801100" y="2038350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33" lnSpcReduction="20000"/>
          </a:bodyPr>
          <a:lstStyle/>
          <a:p>
            <a:pPr algn="ctr">
              <a:defRPr sz="1875" b="1">
                <a:solidFill>
                  <a:srgbClr val="7657FF"/>
                </a:solidFill>
              </a:defRPr>
            </a:pPr>
            <a:r>
              <a:rPr sz="1875" b="1">
                <a:solidFill>
                  <a:srgbClr val="7657FF"/>
                </a:solidFill>
              </a:rPr>
              <a:t>&gt;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9FEA96F-446E-4EB9-899C-0D58659BD276}"/>
              </a:ext>
            </a:extLst>
          </p:cNvPr>
          <p:cNvSpPr>
            <a:spLocks noGrp="1"/>
          </p:cNvSpPr>
          <p:nvPr/>
        </p:nvSpPr>
        <p:spPr>
          <a:xfrm>
            <a:off x="9315450" y="1619250"/>
            <a:ext cx="2381250" cy="1200150"/>
          </a:xfrm>
          <a:prstGeom prst="roundRect">
            <a:avLst>
              <a:gd name="adj" fmla="val 6349"/>
            </a:avLst>
          </a:prstGeom>
          <a:solidFill>
            <a:srgbClr val="0D0B14"/>
          </a:solidFill>
          <a:ln w="9525">
            <a:solidFill>
              <a:srgbClr val="45404E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5E3398-FBBF-4943-B24D-C59B12840A07}"/>
              </a:ext>
            </a:extLst>
          </p:cNvPr>
          <p:cNvSpPr>
            <a:spLocks noGrp="1"/>
          </p:cNvSpPr>
          <p:nvPr/>
        </p:nvSpPr>
        <p:spPr>
          <a:xfrm>
            <a:off x="9486900" y="1771650"/>
            <a:ext cx="323850" cy="38100"/>
          </a:xfrm>
          <a:prstGeom prst="rect">
            <a:avLst/>
          </a:prstGeom>
          <a:solidFill>
            <a:srgbClr val="C9F53B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897B04-EDA0-4134-8746-25436A53CFBD}"/>
              </a:ext>
            </a:extLst>
          </p:cNvPr>
          <p:cNvSpPr>
            <a:spLocks noGrp="1"/>
          </p:cNvSpPr>
          <p:nvPr/>
        </p:nvSpPr>
        <p:spPr>
          <a:xfrm>
            <a:off x="9486900" y="192405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AI CONTEXT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581E27-3483-47D4-8294-26679F9593E1}"/>
              </a:ext>
            </a:extLst>
          </p:cNvPr>
          <p:cNvSpPr>
            <a:spLocks noGrp="1"/>
          </p:cNvSpPr>
          <p:nvPr/>
        </p:nvSpPr>
        <p:spPr>
          <a:xfrm>
            <a:off x="9486900" y="2247900"/>
            <a:ext cx="2038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75" b="0">
                <a:solidFill>
                  <a:srgbClr val="BCB8C5"/>
                </a:solidFill>
              </a:defRPr>
            </a:pPr>
            <a:r>
              <a:rPr sz="975" b="0">
                <a:solidFill>
                  <a:srgbClr val="BCB8C5"/>
                </a:solidFill>
              </a:rPr>
              <a:t>timestamped observations with confidence and provenance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4B06D4-B35E-43BE-91E6-3E38EF42DE0F}"/>
              </a:ext>
            </a:extLst>
          </p:cNvPr>
          <p:cNvSpPr>
            <a:spLocks noGrp="1"/>
          </p:cNvSpPr>
          <p:nvPr/>
        </p:nvSpPr>
        <p:spPr>
          <a:xfrm>
            <a:off x="495300" y="32670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7657FF"/>
                </a:solidFill>
              </a:defRPr>
            </a:pPr>
            <a:r>
              <a:rPr sz="900" b="1">
                <a:solidFill>
                  <a:srgbClr val="7657FF"/>
                </a:solidFill>
              </a:rPr>
              <a:t>IMPLEMENTATION DECISIONS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CBF25C-DD23-4B2F-A7E8-99FDFF7B42FA}"/>
              </a:ext>
            </a:extLst>
          </p:cNvPr>
          <p:cNvSpPr>
            <a:spLocks noGrp="1"/>
          </p:cNvSpPr>
          <p:nvPr/>
        </p:nvSpPr>
        <p:spPr>
          <a:xfrm>
            <a:off x="495300" y="3638550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097"/>
          </a:bodyPr>
          <a:lstStyle/>
          <a:p>
            <a:pPr algn="l">
              <a:defRPr sz="1425" b="1">
                <a:solidFill>
                  <a:srgbClr val="34BDEB"/>
                </a:solidFill>
              </a:defRPr>
            </a:pPr>
            <a:r>
              <a:rPr sz="1425" b="1">
                <a:solidFill>
                  <a:srgbClr val="34BDEB"/>
                </a:solidFill>
              </a:rPr>
              <a:t>01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882E45-31A0-4007-A4D4-01811DAA1EAB}"/>
              </a:ext>
            </a:extLst>
          </p:cNvPr>
          <p:cNvSpPr>
            <a:spLocks noGrp="1"/>
          </p:cNvSpPr>
          <p:nvPr/>
        </p:nvSpPr>
        <p:spPr>
          <a:xfrm>
            <a:off x="952500" y="3629025"/>
            <a:ext cx="2971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10000"/>
          </a:bodyPr>
          <a:lstStyle/>
          <a:p>
            <a:pPr algn="l">
              <a:defRPr sz="1500" b="1">
                <a:solidFill>
                  <a:srgbClr val="101014"/>
                </a:solidFill>
              </a:defRPr>
            </a:pPr>
            <a:r>
              <a:rPr sz="1500" b="1">
                <a:solidFill>
                  <a:srgbClr val="101014"/>
                </a:solidFill>
              </a:rPr>
              <a:t>Universal signals first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DC74C2-12AF-4A47-B9FB-B8E4C8ACDAAC}"/>
              </a:ext>
            </a:extLst>
          </p:cNvPr>
          <p:cNvSpPr>
            <a:spLocks noGrp="1"/>
          </p:cNvSpPr>
          <p:nvPr/>
        </p:nvSpPr>
        <p:spPr>
          <a:xfrm>
            <a:off x="952500" y="3933825"/>
            <a:ext cx="2971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61"/>
          </a:bodyPr>
          <a:lstStyle/>
          <a:p>
            <a:pPr algn="l">
              <a:defRPr sz="1050" b="0">
                <a:solidFill>
                  <a:srgbClr val="5D626D"/>
                </a:solidFill>
              </a:defRPr>
            </a:pPr>
            <a:r>
              <a:rPr sz="1050" b="0">
                <a:solidFill>
                  <a:srgbClr val="5D626D"/>
                </a:solidFill>
              </a:rPr>
              <a:t>Broad activity and transition signals work across genres before game-specific HUD facts.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FDE41B-569B-416B-9722-3BE72C116DDA}"/>
              </a:ext>
            </a:extLst>
          </p:cNvPr>
          <p:cNvSpPr>
            <a:spLocks noGrp="1"/>
          </p:cNvSpPr>
          <p:nvPr/>
        </p:nvSpPr>
        <p:spPr>
          <a:xfrm>
            <a:off x="4191000" y="3638550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097"/>
          </a:bodyPr>
          <a:lstStyle/>
          <a:p>
            <a:pPr algn="l">
              <a:defRPr sz="1425" b="1">
                <a:solidFill>
                  <a:srgbClr val="7657FF"/>
                </a:solidFill>
              </a:defRPr>
            </a:pPr>
            <a:r>
              <a:rPr sz="1425" b="1">
                <a:solidFill>
                  <a:srgbClr val="7657FF"/>
                </a:solidFill>
              </a:rPr>
              <a:t>02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B48288-1197-4CE2-8637-8CDA621E6156}"/>
              </a:ext>
            </a:extLst>
          </p:cNvPr>
          <p:cNvSpPr>
            <a:spLocks noGrp="1"/>
          </p:cNvSpPr>
          <p:nvPr/>
        </p:nvSpPr>
        <p:spPr>
          <a:xfrm>
            <a:off x="4648200" y="3629025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10000"/>
          </a:bodyPr>
          <a:lstStyle/>
          <a:p>
            <a:pPr algn="l">
              <a:defRPr sz="1500" b="1">
                <a:solidFill>
                  <a:srgbClr val="101014"/>
                </a:solidFill>
              </a:defRPr>
            </a:pPr>
            <a:r>
              <a:rPr sz="1500" b="1">
                <a:solidFill>
                  <a:srgbClr val="101014"/>
                </a:solidFill>
              </a:rPr>
              <a:t>Calibrate only what is reliable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5CD755-34FD-4437-AC8B-35B5AB0BFE6C}"/>
              </a:ext>
            </a:extLst>
          </p:cNvPr>
          <p:cNvSpPr>
            <a:spLocks noGrp="1"/>
          </p:cNvSpPr>
          <p:nvPr/>
        </p:nvSpPr>
        <p:spPr>
          <a:xfrm>
            <a:off x="4648200" y="3933825"/>
            <a:ext cx="3086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5D626D"/>
                </a:solidFill>
              </a:defRPr>
            </a:pPr>
            <a:r>
              <a:rPr sz="1050" b="0">
                <a:solidFill>
                  <a:srgbClr val="5D626D"/>
                </a:solidFill>
              </a:rPr>
              <a:t>Selective OCR runs on bounded named regions; unsupported health, kill, score, or phase stays unknown.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C8AB1F-E462-47B8-98EB-15B60E25A935}"/>
              </a:ext>
            </a:extLst>
          </p:cNvPr>
          <p:cNvSpPr>
            <a:spLocks noGrp="1"/>
          </p:cNvSpPr>
          <p:nvPr/>
        </p:nvSpPr>
        <p:spPr>
          <a:xfrm>
            <a:off x="8001000" y="3638550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097"/>
          </a:bodyPr>
          <a:lstStyle/>
          <a:p>
            <a:pPr algn="l">
              <a:defRPr sz="1425" b="1">
                <a:solidFill>
                  <a:srgbClr val="F45B7A"/>
                </a:solidFill>
              </a:defRPr>
            </a:pPr>
            <a:r>
              <a:rPr sz="1425" b="1">
                <a:solidFill>
                  <a:srgbClr val="F45B7A"/>
                </a:solidFill>
              </a:rPr>
              <a:t>03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E1CF089-D6B8-4DC3-A60A-13386A2787E4}"/>
              </a:ext>
            </a:extLst>
          </p:cNvPr>
          <p:cNvSpPr>
            <a:spLocks noGrp="1"/>
          </p:cNvSpPr>
          <p:nvPr/>
        </p:nvSpPr>
        <p:spPr>
          <a:xfrm>
            <a:off x="8458200" y="3629025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10000"/>
          </a:bodyPr>
          <a:lstStyle/>
          <a:p>
            <a:pPr algn="l">
              <a:defRPr sz="1500" b="1">
                <a:solidFill>
                  <a:srgbClr val="101014"/>
                </a:solidFill>
              </a:defRPr>
            </a:pPr>
            <a:r>
              <a:rPr sz="1500" b="1">
                <a:solidFill>
                  <a:srgbClr val="101014"/>
                </a:solidFill>
              </a:rPr>
              <a:t>Protect trust and privacy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2D68D2-5510-4191-80D2-957F8350EEFF}"/>
              </a:ext>
            </a:extLst>
          </p:cNvPr>
          <p:cNvSpPr>
            <a:spLocks noGrp="1"/>
          </p:cNvSpPr>
          <p:nvPr/>
        </p:nvSpPr>
        <p:spPr>
          <a:xfrm>
            <a:off x="8458200" y="3933825"/>
            <a:ext cx="323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5D626D"/>
                </a:solidFill>
              </a:defRPr>
            </a:pPr>
            <a:r>
              <a:rPr sz="1050" b="0">
                <a:solidFill>
                  <a:srgbClr val="5D626D"/>
                </a:solidFill>
              </a:rPr>
              <a:t>Raw frames are ephemeral, carry provenance, and exclude the ChatXPT overlay to avoid recursive analysis.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AA5635B-ADB9-46F1-AA7B-11F36268C064}"/>
              </a:ext>
            </a:extLst>
          </p:cNvPr>
          <p:cNvSpPr>
            <a:spLocks noGrp="1"/>
          </p:cNvSpPr>
          <p:nvPr/>
        </p:nvSpPr>
        <p:spPr>
          <a:xfrm>
            <a:off x="495300" y="5238750"/>
            <a:ext cx="11201400" cy="514350"/>
          </a:xfrm>
          <a:prstGeom prst="roundRect">
            <a:avLst>
              <a:gd name="adj" fmla="val 14815"/>
            </a:avLst>
          </a:prstGeom>
          <a:solidFill>
            <a:srgbClr val="EEF7C8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848DB8A-FB70-4171-84BF-55483D88A406}"/>
              </a:ext>
            </a:extLst>
          </p:cNvPr>
          <p:cNvSpPr>
            <a:spLocks noGrp="1"/>
          </p:cNvSpPr>
          <p:nvPr/>
        </p:nvSpPr>
        <p:spPr>
          <a:xfrm>
            <a:off x="685800" y="5410200"/>
            <a:ext cx="108204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92" lnSpcReduction="10000"/>
          </a:bodyPr>
          <a:lstStyle/>
          <a:p>
            <a:pPr algn="ctr">
              <a:defRPr sz="1200" b="1">
                <a:solidFill>
                  <a:srgbClr val="101014"/>
                </a:solidFill>
              </a:defRPr>
            </a:pPr>
            <a:r>
              <a:rPr sz="1200" b="1">
                <a:solidFill>
                  <a:srgbClr val="101014"/>
                </a:solidFill>
              </a:rPr>
              <a:t>AI assists context inference; uncertainty is a product state, not a reason to fabricate game facts.</a:t>
            </a:r>
          </a:p>
        </p:txBody>
      </p:sp>
      <p:sp>
        <p:nvSpPr>
          <p:cNvPr id="33" name="slide-11-evidence">
            <a:extLst>
              <a:ext uri="{FF2B5EF4-FFF2-40B4-BE49-F238E27FC236}">
                <a16:creationId xmlns:a16="http://schemas.microsoft.com/office/drawing/2014/main" id="{D183BACE-EE76-4EC0-BEFD-E08873E0229C}"/>
              </a:ext>
            </a:extLst>
          </p:cNvPr>
          <p:cNvSpPr>
            <a:spLocks noGrp="1"/>
          </p:cNvSpPr>
          <p:nvPr/>
        </p:nvSpPr>
        <p:spPr>
          <a:xfrm>
            <a:off x="495300" y="6029325"/>
            <a:ext cx="1057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825" b="0">
                <a:solidFill>
                  <a:srgbClr val="5D626D"/>
                </a:solidFill>
              </a:defRPr>
            </a:pPr>
            <a:r>
              <a:rPr sz="825" b="0">
                <a:solidFill>
                  <a:srgbClr val="5D626D"/>
                </a:solidFill>
              </a:rPr>
              <a:t>Technical decisions: D-028, D-029, D-033, D-049, D-054.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3BFE4B-1159-47A6-8623-5855572DEC74}"/>
              </a:ext>
            </a:extLst>
          </p:cNvPr>
          <p:cNvSpPr>
            <a:spLocks noGrp="1"/>
          </p:cNvSpPr>
          <p:nvPr/>
        </p:nvSpPr>
        <p:spPr>
          <a:xfrm>
            <a:off x="495300" y="6343650"/>
            <a:ext cx="1120140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35" name="slide-11-repo">
            <a:extLst>
              <a:ext uri="{FF2B5EF4-FFF2-40B4-BE49-F238E27FC236}">
                <a16:creationId xmlns:a16="http://schemas.microsoft.com/office/drawing/2014/main" id="{3D14D193-AC2D-48C0-B19F-876C09CFEB52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l">
              <a:defRPr sz="750" b="0">
                <a:solidFill>
                  <a:srgbClr val="5D626D"/>
                </a:solidFill>
              </a:defRPr>
            </a:pPr>
            <a:r>
              <a:rPr sz="750" b="0">
                <a:solidFill>
                  <a:srgbClr val="5D626D"/>
                </a:solidFill>
              </a:rPr>
              <a:t>REPO LENS  src/extraction/  |  src/ai/  |  src/integrations/obs/  |  docs/DECISIONS.md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A4866AE-C9E2-4374-8A1C-5D9D08CD2E25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r">
              <a:defRPr sz="750" b="1">
                <a:solidFill>
                  <a:srgbClr val="5D626D"/>
                </a:solidFill>
              </a:defRPr>
            </a:pPr>
            <a:r>
              <a:rPr sz="750" b="1">
                <a:solidFill>
                  <a:srgbClr val="5D626D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87280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-12-title">
            <a:extLst>
              <a:ext uri="{FF2B5EF4-FFF2-40B4-BE49-F238E27FC236}">
                <a16:creationId xmlns:a16="http://schemas.microsoft.com/office/drawing/2014/main" id="{38DB6D04-3702-43F9-B64E-FBF2E8CC5F9E}"/>
              </a:ext>
            </a:extLst>
          </p:cNvPr>
          <p:cNvSpPr>
            <a:spLocks noGrp="1"/>
          </p:cNvSpPr>
          <p:nvPr/>
        </p:nvSpPr>
        <p:spPr>
          <a:xfrm>
            <a:off x="495300" y="381000"/>
            <a:ext cx="9334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96"/>
          </a:bodyPr>
          <a:lstStyle/>
          <a:p>
            <a:pPr algn="l">
              <a:defRPr sz="2925" b="1">
                <a:solidFill>
                  <a:srgbClr val="101014"/>
                </a:solidFill>
              </a:defRPr>
            </a:pPr>
            <a:r>
              <a:rPr sz="2925" b="1">
                <a:solidFill>
                  <a:srgbClr val="101014"/>
                </a:solidFill>
              </a:rPr>
              <a:t>The candidate layer is AI-ready and credential-free today</a:t>
            </a:r>
          </a:p>
        </p:txBody>
      </p:sp>
      <p:sp>
        <p:nvSpPr>
          <p:cNvPr id="2" name="slide-12-section">
            <a:extLst>
              <a:ext uri="{FF2B5EF4-FFF2-40B4-BE49-F238E27FC236}">
                <a16:creationId xmlns:a16="http://schemas.microsoft.com/office/drawing/2014/main" id="{F86CB9AD-02ED-4E3D-BAC9-0391CA7BBBDE}"/>
              </a:ext>
            </a:extLst>
          </p:cNvPr>
          <p:cNvSpPr>
            <a:spLocks noGrp="1"/>
          </p:cNvSpPr>
          <p:nvPr/>
        </p:nvSpPr>
        <p:spPr>
          <a:xfrm>
            <a:off x="10191750" y="447675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75" b="1">
                <a:solidFill>
                  <a:srgbClr val="7657FF"/>
                </a:solidFill>
              </a:defRPr>
            </a:pPr>
            <a:r>
              <a:rPr sz="975" b="1">
                <a:solidFill>
                  <a:srgbClr val="7657FF"/>
                </a:solidFill>
              </a:rPr>
              <a:t>MECHANISM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45BCE0-CDDC-459D-9FDF-5C1C5EE6E018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7657FF"/>
                </a:solidFill>
              </a:defRPr>
            </a:pPr>
            <a:r>
              <a:rPr sz="900" b="1">
                <a:solidFill>
                  <a:srgbClr val="7657FF"/>
                </a:solidFill>
              </a:rPr>
              <a:t>MODEL-READY CONTEXT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3CC6ECB-402A-425C-B20B-24E4B5893E84}"/>
              </a:ext>
            </a:extLst>
          </p:cNvPr>
          <p:cNvSpPr>
            <a:spLocks noGrp="1"/>
          </p:cNvSpPr>
          <p:nvPr/>
        </p:nvSpPr>
        <p:spPr>
          <a:xfrm>
            <a:off x="495300" y="1676400"/>
            <a:ext cx="2628900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21E373-C684-40CB-82AE-6E9CE7C024FF}"/>
              </a:ext>
            </a:extLst>
          </p:cNvPr>
          <p:cNvSpPr>
            <a:spLocks noGrp="1"/>
          </p:cNvSpPr>
          <p:nvPr/>
        </p:nvSpPr>
        <p:spPr>
          <a:xfrm>
            <a:off x="647700" y="1771650"/>
            <a:ext cx="2324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905" lnSpcReduction="10000"/>
          </a:bodyPr>
          <a:lstStyle/>
          <a:p>
            <a:pPr algn="l">
              <a:defRPr sz="1050" b="1">
                <a:solidFill>
                  <a:srgbClr val="101014"/>
                </a:solidFill>
              </a:defRPr>
            </a:pPr>
            <a:r>
              <a:rPr sz="1050" b="1">
                <a:solidFill>
                  <a:srgbClr val="101014"/>
                </a:solidFill>
              </a:rPr>
              <a:t>Gameplay snapshot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C4A7EB-F460-48D6-8A62-B5AE46E97D84}"/>
              </a:ext>
            </a:extLst>
          </p:cNvPr>
          <p:cNvSpPr>
            <a:spLocks noGrp="1"/>
          </p:cNvSpPr>
          <p:nvPr/>
        </p:nvSpPr>
        <p:spPr>
          <a:xfrm>
            <a:off x="495300" y="2200275"/>
            <a:ext cx="2628900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B3FABF-FCDA-4A58-94B7-A8AD5DB789E6}"/>
              </a:ext>
            </a:extLst>
          </p:cNvPr>
          <p:cNvSpPr>
            <a:spLocks noGrp="1"/>
          </p:cNvSpPr>
          <p:nvPr/>
        </p:nvSpPr>
        <p:spPr>
          <a:xfrm>
            <a:off x="647700" y="2295525"/>
            <a:ext cx="2324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905" lnSpcReduction="10000"/>
          </a:bodyPr>
          <a:lstStyle/>
          <a:p>
            <a:pPr algn="l">
              <a:defRPr sz="1050" b="1">
                <a:solidFill>
                  <a:srgbClr val="101014"/>
                </a:solidFill>
              </a:defRPr>
            </a:pPr>
            <a:r>
              <a:rPr sz="1050" b="1">
                <a:solidFill>
                  <a:srgbClr val="101014"/>
                </a:solidFill>
              </a:rPr>
              <a:t>Audience signal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9B62703-00E2-4ECB-9765-349662C01AA6}"/>
              </a:ext>
            </a:extLst>
          </p:cNvPr>
          <p:cNvSpPr>
            <a:spLocks noGrp="1"/>
          </p:cNvSpPr>
          <p:nvPr/>
        </p:nvSpPr>
        <p:spPr>
          <a:xfrm>
            <a:off x="495300" y="2724150"/>
            <a:ext cx="2628900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CA1B88-A99C-4925-B06E-031A90B92EA9}"/>
              </a:ext>
            </a:extLst>
          </p:cNvPr>
          <p:cNvSpPr>
            <a:spLocks noGrp="1"/>
          </p:cNvSpPr>
          <p:nvPr/>
        </p:nvSpPr>
        <p:spPr>
          <a:xfrm>
            <a:off x="647700" y="2819400"/>
            <a:ext cx="2324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905" lnSpcReduction="10000"/>
          </a:bodyPr>
          <a:lstStyle/>
          <a:p>
            <a:pPr algn="l">
              <a:defRPr sz="1050" b="1">
                <a:solidFill>
                  <a:srgbClr val="101014"/>
                </a:solidFill>
              </a:defRPr>
            </a:pPr>
            <a:r>
              <a:rPr sz="1050" b="1">
                <a:solidFill>
                  <a:srgbClr val="101014"/>
                </a:solidFill>
              </a:rPr>
              <a:t>Streamer profile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214B365-EDE0-438B-9E93-3F0A0BF17B75}"/>
              </a:ext>
            </a:extLst>
          </p:cNvPr>
          <p:cNvSpPr>
            <a:spLocks noGrp="1"/>
          </p:cNvSpPr>
          <p:nvPr/>
        </p:nvSpPr>
        <p:spPr>
          <a:xfrm>
            <a:off x="495300" y="3248025"/>
            <a:ext cx="2628900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135039-0691-4E14-83A8-1BA2FA76FA3D}"/>
              </a:ext>
            </a:extLst>
          </p:cNvPr>
          <p:cNvSpPr>
            <a:spLocks noGrp="1"/>
          </p:cNvSpPr>
          <p:nvPr/>
        </p:nvSpPr>
        <p:spPr>
          <a:xfrm>
            <a:off x="647700" y="3343275"/>
            <a:ext cx="2324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905" lnSpcReduction="10000"/>
          </a:bodyPr>
          <a:lstStyle/>
          <a:p>
            <a:pPr algn="l">
              <a:defRPr sz="1050" b="1">
                <a:solidFill>
                  <a:srgbClr val="101014"/>
                </a:solidFill>
              </a:defRPr>
            </a:pPr>
            <a:r>
              <a:rPr sz="1050" b="1">
                <a:solidFill>
                  <a:srgbClr val="101014"/>
                </a:solidFill>
              </a:rPr>
              <a:t>Recent quests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4E359BB-E2C6-4733-B488-5E29A2663A40}"/>
              </a:ext>
            </a:extLst>
          </p:cNvPr>
          <p:cNvSpPr>
            <a:spLocks noGrp="1"/>
          </p:cNvSpPr>
          <p:nvPr/>
        </p:nvSpPr>
        <p:spPr>
          <a:xfrm>
            <a:off x="495300" y="3771900"/>
            <a:ext cx="2628900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D28626-2F19-4DF1-9BF8-ED638233FF1A}"/>
              </a:ext>
            </a:extLst>
          </p:cNvPr>
          <p:cNvSpPr>
            <a:spLocks noGrp="1"/>
          </p:cNvSpPr>
          <p:nvPr/>
        </p:nvSpPr>
        <p:spPr>
          <a:xfrm>
            <a:off x="647700" y="3867150"/>
            <a:ext cx="2324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905" lnSpcReduction="10000"/>
          </a:bodyPr>
          <a:lstStyle/>
          <a:p>
            <a:pPr algn="l">
              <a:defRPr sz="1050" b="1">
                <a:solidFill>
                  <a:srgbClr val="101014"/>
                </a:solidFill>
              </a:defRPr>
            </a:pPr>
            <a:r>
              <a:rPr sz="1050" b="1">
                <a:solidFill>
                  <a:srgbClr val="101014"/>
                </a:solidFill>
              </a:rPr>
              <a:t>Restrictions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5DF0D9-52CD-4723-9613-896B2C128F17}"/>
              </a:ext>
            </a:extLst>
          </p:cNvPr>
          <p:cNvSpPr>
            <a:spLocks noGrp="1"/>
          </p:cNvSpPr>
          <p:nvPr/>
        </p:nvSpPr>
        <p:spPr>
          <a:xfrm>
            <a:off x="3362325" y="2657475"/>
            <a:ext cx="43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33" lnSpcReduction="20000"/>
          </a:bodyPr>
          <a:lstStyle/>
          <a:p>
            <a:pPr algn="ctr">
              <a:defRPr sz="1875" b="1">
                <a:solidFill>
                  <a:srgbClr val="7657FF"/>
                </a:solidFill>
              </a:defRPr>
            </a:pPr>
            <a:r>
              <a:rPr sz="1875" b="1">
                <a:solidFill>
                  <a:srgbClr val="7657FF"/>
                </a:solidFill>
              </a:rPr>
              <a:t>&gt;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2ADA0BF-F2F4-4D0C-97BB-1528F3FC8CF9}"/>
              </a:ext>
            </a:extLst>
          </p:cNvPr>
          <p:cNvSpPr>
            <a:spLocks noGrp="1"/>
          </p:cNvSpPr>
          <p:nvPr/>
        </p:nvSpPr>
        <p:spPr>
          <a:xfrm>
            <a:off x="3943350" y="2162175"/>
            <a:ext cx="2714625" cy="1438275"/>
          </a:xfrm>
          <a:prstGeom prst="roundRect">
            <a:avLst>
              <a:gd name="adj" fmla="val 5298"/>
            </a:avLst>
          </a:prstGeom>
          <a:solidFill>
            <a:srgbClr val="0D0B14"/>
          </a:solidFill>
          <a:ln w="9525">
            <a:solidFill>
              <a:srgbClr val="45404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0DD0FA-EAA5-48B8-B517-58D9BC1D3EB5}"/>
              </a:ext>
            </a:extLst>
          </p:cNvPr>
          <p:cNvSpPr>
            <a:spLocks noGrp="1"/>
          </p:cNvSpPr>
          <p:nvPr/>
        </p:nvSpPr>
        <p:spPr>
          <a:xfrm>
            <a:off x="4114800" y="2314575"/>
            <a:ext cx="323850" cy="38100"/>
          </a:xfrm>
          <a:prstGeom prst="rect">
            <a:avLst/>
          </a:prstGeom>
          <a:solidFill>
            <a:srgbClr val="C9F53B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909CE6-00A1-4065-B7D3-1E659C09AEA5}"/>
              </a:ext>
            </a:extLst>
          </p:cNvPr>
          <p:cNvSpPr>
            <a:spLocks noGrp="1"/>
          </p:cNvSpPr>
          <p:nvPr/>
        </p:nvSpPr>
        <p:spPr>
          <a:xfrm>
            <a:off x="4114800" y="2466975"/>
            <a:ext cx="2371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CONTEXT ASSEMBLY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CA847E-ACC5-4654-A192-CFB9F142E00E}"/>
              </a:ext>
            </a:extLst>
          </p:cNvPr>
          <p:cNvSpPr>
            <a:spLocks noGrp="1"/>
          </p:cNvSpPr>
          <p:nvPr/>
        </p:nvSpPr>
        <p:spPr>
          <a:xfrm>
            <a:off x="4114800" y="2790825"/>
            <a:ext cx="23717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75" b="0">
                <a:solidFill>
                  <a:srgbClr val="BCB8C5"/>
                </a:solidFill>
              </a:defRPr>
            </a:pPr>
            <a:r>
              <a:rPr sz="975" b="0">
                <a:solidFill>
                  <a:srgbClr val="BCB8C5"/>
                </a:solidFill>
              </a:rPr>
              <a:t>capability-aware, structured, timestamped, privacy-bounded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EB0D82-626C-4A08-A0C0-409A48994F26}"/>
              </a:ext>
            </a:extLst>
          </p:cNvPr>
          <p:cNvSpPr>
            <a:spLocks noGrp="1"/>
          </p:cNvSpPr>
          <p:nvPr/>
        </p:nvSpPr>
        <p:spPr>
          <a:xfrm>
            <a:off x="6858000" y="2657475"/>
            <a:ext cx="43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33" lnSpcReduction="20000"/>
          </a:bodyPr>
          <a:lstStyle/>
          <a:p>
            <a:pPr algn="ctr">
              <a:defRPr sz="1875" b="1">
                <a:solidFill>
                  <a:srgbClr val="7657FF"/>
                </a:solidFill>
              </a:defRPr>
            </a:pPr>
            <a:r>
              <a:rPr sz="1875" b="1">
                <a:solidFill>
                  <a:srgbClr val="7657FF"/>
                </a:solidFill>
              </a:rPr>
              <a:t>&gt;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0288624-8802-4FF5-9E32-BAA51D45DCF2}"/>
              </a:ext>
            </a:extLst>
          </p:cNvPr>
          <p:cNvSpPr>
            <a:spLocks noGrp="1"/>
          </p:cNvSpPr>
          <p:nvPr/>
        </p:nvSpPr>
        <p:spPr>
          <a:xfrm>
            <a:off x="7448550" y="2162175"/>
            <a:ext cx="4248150" cy="1438275"/>
          </a:xfrm>
          <a:prstGeom prst="roundRect">
            <a:avLst>
              <a:gd name="adj" fmla="val 5298"/>
            </a:avLst>
          </a:prstGeom>
          <a:solidFill>
            <a:srgbClr val="EEEAFE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E65B18-240C-4C6C-965F-592DB9D85D2E}"/>
              </a:ext>
            </a:extLst>
          </p:cNvPr>
          <p:cNvSpPr>
            <a:spLocks noGrp="1"/>
          </p:cNvSpPr>
          <p:nvPr/>
        </p:nvSpPr>
        <p:spPr>
          <a:xfrm>
            <a:off x="7620000" y="2314575"/>
            <a:ext cx="323850" cy="38100"/>
          </a:xfrm>
          <a:prstGeom prst="rect">
            <a:avLst/>
          </a:prstGeom>
          <a:solidFill>
            <a:srgbClr val="7657FF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B3E054-BBBC-4790-A6B7-978CCCD6C1FA}"/>
              </a:ext>
            </a:extLst>
          </p:cNvPr>
          <p:cNvSpPr>
            <a:spLocks noGrp="1"/>
          </p:cNvSpPr>
          <p:nvPr/>
        </p:nvSpPr>
        <p:spPr>
          <a:xfrm>
            <a:off x="7620000" y="2466975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ALGORITHMIC INTELLIGENCE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48A509-8F0B-4389-BC77-2B9BA363A377}"/>
              </a:ext>
            </a:extLst>
          </p:cNvPr>
          <p:cNvSpPr>
            <a:spLocks noGrp="1"/>
          </p:cNvSpPr>
          <p:nvPr/>
        </p:nvSpPr>
        <p:spPr>
          <a:xfrm>
            <a:off x="7620000" y="2790825"/>
            <a:ext cx="39052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75" b="0">
                <a:solidFill>
                  <a:srgbClr val="5D626D"/>
                </a:solidFill>
              </a:defRPr>
            </a:pPr>
            <a:r>
              <a:rPr sz="975" b="0">
                <a:solidFill>
                  <a:srgbClr val="5D626D"/>
                </a:solidFill>
              </a:rPr>
              <a:t>genre-aware generation using real context; no external API key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9CBBD2-B0C8-4F39-8976-B31931216F35}"/>
              </a:ext>
            </a:extLst>
          </p:cNvPr>
          <p:cNvSpPr>
            <a:spLocks noGrp="1"/>
          </p:cNvSpPr>
          <p:nvPr/>
        </p:nvSpPr>
        <p:spPr>
          <a:xfrm>
            <a:off x="495300" y="45624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7657FF"/>
                </a:solidFill>
              </a:defRPr>
            </a:pPr>
            <a:r>
              <a:rPr sz="900" b="1">
                <a:solidFill>
                  <a:srgbClr val="7657FF"/>
                </a:solidFill>
              </a:rPr>
              <a:t>EXACTLY THREE CANDIDATES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CF3D3B8-716E-4F2A-9D29-F679500B0424}"/>
              </a:ext>
            </a:extLst>
          </p:cNvPr>
          <p:cNvSpPr>
            <a:spLocks noGrp="1"/>
          </p:cNvSpPr>
          <p:nvPr/>
        </p:nvSpPr>
        <p:spPr>
          <a:xfrm>
            <a:off x="495300" y="4905375"/>
            <a:ext cx="32766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011657-770F-418D-9688-CF1F6EA0CC03}"/>
              </a:ext>
            </a:extLst>
          </p:cNvPr>
          <p:cNvSpPr>
            <a:spLocks noGrp="1"/>
          </p:cNvSpPr>
          <p:nvPr/>
        </p:nvSpPr>
        <p:spPr>
          <a:xfrm>
            <a:off x="647700" y="50482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34BDEB"/>
                </a:solidFill>
              </a:defRPr>
            </a:pPr>
            <a:r>
              <a:rPr sz="1200" b="1">
                <a:solidFill>
                  <a:srgbClr val="34BDEB"/>
                </a:solidFill>
              </a:rPr>
              <a:t>01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CD2B4F-5EA3-4051-8FDD-73E75CC52383}"/>
              </a:ext>
            </a:extLst>
          </p:cNvPr>
          <p:cNvSpPr>
            <a:spLocks noGrp="1"/>
          </p:cNvSpPr>
          <p:nvPr/>
        </p:nvSpPr>
        <p:spPr>
          <a:xfrm>
            <a:off x="1104900" y="5000625"/>
            <a:ext cx="1219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3426" lnSpcReduction="10000"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Mechanical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034068-3DF4-4A8B-9F33-13B1C406327C}"/>
              </a:ext>
            </a:extLst>
          </p:cNvPr>
          <p:cNvSpPr>
            <a:spLocks noGrp="1"/>
          </p:cNvSpPr>
          <p:nvPr/>
        </p:nvSpPr>
        <p:spPr>
          <a:xfrm>
            <a:off x="1104900" y="5276850"/>
            <a:ext cx="2333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 lnSpcReduction="10000"/>
          </a:bodyPr>
          <a:lstStyle/>
          <a:p>
            <a:pPr algn="l">
              <a:defRPr sz="975" b="0">
                <a:solidFill>
                  <a:srgbClr val="5D626D"/>
                </a:solidFill>
              </a:defRPr>
            </a:pPr>
            <a:r>
              <a:rPr sz="975" b="0">
                <a:solidFill>
                  <a:srgbClr val="5D626D"/>
                </a:solidFill>
              </a:rPr>
              <a:t>clear in-game constraint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D0F3C2B-EEF2-4804-B688-1FFD3D21125F}"/>
              </a:ext>
            </a:extLst>
          </p:cNvPr>
          <p:cNvSpPr>
            <a:spLocks noGrp="1"/>
          </p:cNvSpPr>
          <p:nvPr/>
        </p:nvSpPr>
        <p:spPr>
          <a:xfrm>
            <a:off x="4305300" y="4905375"/>
            <a:ext cx="32766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DD770BB-D8B4-4941-8A58-57793E0CCF35}"/>
              </a:ext>
            </a:extLst>
          </p:cNvPr>
          <p:cNvSpPr>
            <a:spLocks noGrp="1"/>
          </p:cNvSpPr>
          <p:nvPr/>
        </p:nvSpPr>
        <p:spPr>
          <a:xfrm>
            <a:off x="4457700" y="50482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7657FF"/>
                </a:solidFill>
              </a:defRPr>
            </a:pPr>
            <a:r>
              <a:rPr sz="1200" b="1">
                <a:solidFill>
                  <a:srgbClr val="7657FF"/>
                </a:solidFill>
              </a:rPr>
              <a:t>02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272796B-C05E-4E33-A20D-406660C25898}"/>
              </a:ext>
            </a:extLst>
          </p:cNvPr>
          <p:cNvSpPr>
            <a:spLocks noGrp="1"/>
          </p:cNvSpPr>
          <p:nvPr/>
        </p:nvSpPr>
        <p:spPr>
          <a:xfrm>
            <a:off x="4914900" y="5000625"/>
            <a:ext cx="1219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3426" lnSpcReduction="10000"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Social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D0B458-B8B7-40CA-9563-686DC0838803}"/>
              </a:ext>
            </a:extLst>
          </p:cNvPr>
          <p:cNvSpPr>
            <a:spLocks noGrp="1"/>
          </p:cNvSpPr>
          <p:nvPr/>
        </p:nvSpPr>
        <p:spPr>
          <a:xfrm>
            <a:off x="4914900" y="5276850"/>
            <a:ext cx="2333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 lnSpcReduction="10000"/>
          </a:bodyPr>
          <a:lstStyle/>
          <a:p>
            <a:pPr algn="l">
              <a:defRPr sz="975" b="0">
                <a:solidFill>
                  <a:srgbClr val="5D626D"/>
                </a:solidFill>
              </a:defRPr>
            </a:pPr>
            <a:r>
              <a:rPr sz="975" b="0">
                <a:solidFill>
                  <a:srgbClr val="5D626D"/>
                </a:solidFill>
              </a:rPr>
              <a:t>audience-shaped performance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1A0C91D-F513-4156-AB7D-A8F11ECD892F}"/>
              </a:ext>
            </a:extLst>
          </p:cNvPr>
          <p:cNvSpPr>
            <a:spLocks noGrp="1"/>
          </p:cNvSpPr>
          <p:nvPr/>
        </p:nvSpPr>
        <p:spPr>
          <a:xfrm>
            <a:off x="8115300" y="4905375"/>
            <a:ext cx="32766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528B3D7-524C-4F13-ADBA-B89CA3929867}"/>
              </a:ext>
            </a:extLst>
          </p:cNvPr>
          <p:cNvSpPr>
            <a:spLocks noGrp="1"/>
          </p:cNvSpPr>
          <p:nvPr/>
        </p:nvSpPr>
        <p:spPr>
          <a:xfrm>
            <a:off x="8267700" y="50482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F45B7A"/>
                </a:solidFill>
              </a:defRPr>
            </a:pPr>
            <a:r>
              <a:rPr sz="1200" b="1">
                <a:solidFill>
                  <a:srgbClr val="F45B7A"/>
                </a:solidFill>
              </a:rPr>
              <a:t>03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B6A05FF-91CF-48BA-8981-539C0B1D7F73}"/>
              </a:ext>
            </a:extLst>
          </p:cNvPr>
          <p:cNvSpPr>
            <a:spLocks noGrp="1"/>
          </p:cNvSpPr>
          <p:nvPr/>
        </p:nvSpPr>
        <p:spPr>
          <a:xfrm>
            <a:off x="8724900" y="5000625"/>
            <a:ext cx="1219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3426" lnSpcReduction="10000"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Comedic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C46A642-09ED-48D1-A7D3-CD9A5A043845}"/>
              </a:ext>
            </a:extLst>
          </p:cNvPr>
          <p:cNvSpPr>
            <a:spLocks noGrp="1"/>
          </p:cNvSpPr>
          <p:nvPr/>
        </p:nvSpPr>
        <p:spPr>
          <a:xfrm>
            <a:off x="8724900" y="5276850"/>
            <a:ext cx="2333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 lnSpcReduction="10000"/>
          </a:bodyPr>
          <a:lstStyle/>
          <a:p>
            <a:pPr algn="l">
              <a:defRPr sz="975" b="0">
                <a:solidFill>
                  <a:srgbClr val="5D626D"/>
                </a:solidFill>
              </a:defRPr>
            </a:pPr>
            <a:r>
              <a:rPr sz="975" b="0">
                <a:solidFill>
                  <a:srgbClr val="5D626D"/>
                </a:solidFill>
              </a:rPr>
              <a:t>personality-forward challenge</a:t>
            </a:r>
          </a:p>
        </p:txBody>
      </p:sp>
      <p:sp>
        <p:nvSpPr>
          <p:cNvPr id="37" name="slide-12-evidence">
            <a:extLst>
              <a:ext uri="{FF2B5EF4-FFF2-40B4-BE49-F238E27FC236}">
                <a16:creationId xmlns:a16="http://schemas.microsoft.com/office/drawing/2014/main" id="{339EEAD2-0E84-4425-A8D4-373381475274}"/>
              </a:ext>
            </a:extLst>
          </p:cNvPr>
          <p:cNvSpPr>
            <a:spLocks noGrp="1"/>
          </p:cNvSpPr>
          <p:nvPr/>
        </p:nvSpPr>
        <p:spPr>
          <a:xfrm>
            <a:off x="495300" y="6029325"/>
            <a:ext cx="1057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825" b="0">
                <a:solidFill>
                  <a:srgbClr val="5D626D"/>
                </a:solidFill>
              </a:defRPr>
            </a:pPr>
            <a:r>
              <a:rPr sz="825" b="0">
                <a:solidFill>
                  <a:srgbClr val="5D626D"/>
                </a:solidFill>
              </a:rPr>
              <a:t>Judged MVP: credential-free algorithmic generator. External model provider not configured under D-055.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CBE53CB-C8AC-4A6E-958A-A14AD7BE09A4}"/>
              </a:ext>
            </a:extLst>
          </p:cNvPr>
          <p:cNvSpPr>
            <a:spLocks noGrp="1"/>
          </p:cNvSpPr>
          <p:nvPr/>
        </p:nvSpPr>
        <p:spPr>
          <a:xfrm>
            <a:off x="495300" y="6343650"/>
            <a:ext cx="1120140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39" name="slide-12-repo">
            <a:extLst>
              <a:ext uri="{FF2B5EF4-FFF2-40B4-BE49-F238E27FC236}">
                <a16:creationId xmlns:a16="http://schemas.microsoft.com/office/drawing/2014/main" id="{314BF6C1-9FA5-43CB-86B7-14558FE80A5E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l">
              <a:defRPr sz="750" b="0">
                <a:solidFill>
                  <a:srgbClr val="5D626D"/>
                </a:solidFill>
              </a:defRPr>
            </a:pPr>
            <a:r>
              <a:rPr sz="750" b="0">
                <a:solidFill>
                  <a:srgbClr val="5D626D"/>
                </a:solidFill>
              </a:rPr>
              <a:t>REPO LENS  src/ai/  |  src/lib/mock-engine.ts  |  src/app/api/sidequests/route.ts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4FEF72-DBB0-4FE4-8FF8-DCAFE6D1F50B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r">
              <a:defRPr sz="750" b="1">
                <a:solidFill>
                  <a:srgbClr val="5D626D"/>
                </a:solidFill>
              </a:defRPr>
            </a:pPr>
            <a:r>
              <a:rPr sz="750" b="1">
                <a:solidFill>
                  <a:srgbClr val="5D626D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12870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-13-title">
            <a:extLst>
              <a:ext uri="{FF2B5EF4-FFF2-40B4-BE49-F238E27FC236}">
                <a16:creationId xmlns:a16="http://schemas.microsoft.com/office/drawing/2014/main" id="{1B9382E0-265E-4DE1-ADE0-E77FE965819D}"/>
              </a:ext>
            </a:extLst>
          </p:cNvPr>
          <p:cNvSpPr>
            <a:spLocks noGrp="1"/>
          </p:cNvSpPr>
          <p:nvPr/>
        </p:nvSpPr>
        <p:spPr>
          <a:xfrm>
            <a:off x="495300" y="381000"/>
            <a:ext cx="9334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38"/>
          </a:bodyPr>
          <a:lstStyle/>
          <a:p>
            <a:pPr algn="l">
              <a:defRPr sz="3225" b="1">
                <a:solidFill>
                  <a:srgbClr val="101014"/>
                </a:solidFill>
              </a:defRPr>
            </a:pPr>
            <a:r>
              <a:rPr sz="3225" b="1">
                <a:solidFill>
                  <a:srgbClr val="101014"/>
                </a:solidFill>
              </a:rPr>
              <a:t>AI proposes; the deterministic quest engine decides</a:t>
            </a:r>
          </a:p>
        </p:txBody>
      </p:sp>
      <p:sp>
        <p:nvSpPr>
          <p:cNvPr id="2" name="slide-13-section">
            <a:extLst>
              <a:ext uri="{FF2B5EF4-FFF2-40B4-BE49-F238E27FC236}">
                <a16:creationId xmlns:a16="http://schemas.microsoft.com/office/drawing/2014/main" id="{108F7A5D-0DCE-407A-A389-8884131DB848}"/>
              </a:ext>
            </a:extLst>
          </p:cNvPr>
          <p:cNvSpPr>
            <a:spLocks noGrp="1"/>
          </p:cNvSpPr>
          <p:nvPr/>
        </p:nvSpPr>
        <p:spPr>
          <a:xfrm>
            <a:off x="10191750" y="447675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75" b="1">
                <a:solidFill>
                  <a:srgbClr val="7657FF"/>
                </a:solidFill>
              </a:defRPr>
            </a:pPr>
            <a:r>
              <a:rPr sz="975" b="1">
                <a:solidFill>
                  <a:srgbClr val="7657FF"/>
                </a:solidFill>
              </a:rPr>
              <a:t>MECHANISM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0902A4-7D52-48E5-A8F0-CFA03B4D26F8}"/>
              </a:ext>
            </a:extLst>
          </p:cNvPr>
          <p:cNvSpPr>
            <a:spLocks noGrp="1"/>
          </p:cNvSpPr>
          <p:nvPr/>
        </p:nvSpPr>
        <p:spPr>
          <a:xfrm>
            <a:off x="2390775" y="2133600"/>
            <a:ext cx="590550" cy="2857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C8F263-71EE-4DBE-9611-33151C7E80B5}"/>
              </a:ext>
            </a:extLst>
          </p:cNvPr>
          <p:cNvSpPr>
            <a:spLocks noGrp="1"/>
          </p:cNvSpPr>
          <p:nvPr/>
        </p:nvSpPr>
        <p:spPr>
          <a:xfrm>
            <a:off x="5172075" y="2133600"/>
            <a:ext cx="590550" cy="2857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628413-01BF-406A-A392-BE789E11F560}"/>
              </a:ext>
            </a:extLst>
          </p:cNvPr>
          <p:cNvSpPr>
            <a:spLocks noGrp="1"/>
          </p:cNvSpPr>
          <p:nvPr/>
        </p:nvSpPr>
        <p:spPr>
          <a:xfrm>
            <a:off x="7953375" y="2133600"/>
            <a:ext cx="590550" cy="2857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FADCFF-A922-4B27-912E-B55C21C294A5}"/>
              </a:ext>
            </a:extLst>
          </p:cNvPr>
          <p:cNvSpPr>
            <a:spLocks noGrp="1"/>
          </p:cNvSpPr>
          <p:nvPr/>
        </p:nvSpPr>
        <p:spPr>
          <a:xfrm>
            <a:off x="2495550" y="198120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33" lnSpcReduction="20000"/>
          </a:bodyPr>
          <a:lstStyle/>
          <a:p>
            <a:pPr algn="ctr">
              <a:defRPr sz="1875" b="1">
                <a:solidFill>
                  <a:srgbClr val="7657FF"/>
                </a:solidFill>
              </a:defRPr>
            </a:pPr>
            <a:r>
              <a:rPr sz="1875" b="1">
                <a:solidFill>
                  <a:srgbClr val="7657FF"/>
                </a:solidFill>
              </a:rPr>
              <a:t>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6A37CA-EDB3-4CC6-99F4-16650649C3AC}"/>
              </a:ext>
            </a:extLst>
          </p:cNvPr>
          <p:cNvSpPr>
            <a:spLocks noGrp="1"/>
          </p:cNvSpPr>
          <p:nvPr/>
        </p:nvSpPr>
        <p:spPr>
          <a:xfrm>
            <a:off x="5276850" y="198120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33" lnSpcReduction="20000"/>
          </a:bodyPr>
          <a:lstStyle/>
          <a:p>
            <a:pPr algn="ctr">
              <a:defRPr sz="1875" b="1">
                <a:solidFill>
                  <a:srgbClr val="7657FF"/>
                </a:solidFill>
              </a:defRPr>
            </a:pPr>
            <a:r>
              <a:rPr sz="1875" b="1">
                <a:solidFill>
                  <a:srgbClr val="7657FF"/>
                </a:solidFill>
              </a:rPr>
              <a:t>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52F30B-B924-490E-9E56-90C89E46AA85}"/>
              </a:ext>
            </a:extLst>
          </p:cNvPr>
          <p:cNvSpPr>
            <a:spLocks noGrp="1"/>
          </p:cNvSpPr>
          <p:nvPr/>
        </p:nvSpPr>
        <p:spPr>
          <a:xfrm>
            <a:off x="8058150" y="198120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33" lnSpcReduction="20000"/>
          </a:bodyPr>
          <a:lstStyle/>
          <a:p>
            <a:pPr algn="ctr">
              <a:defRPr sz="1875" b="1">
                <a:solidFill>
                  <a:srgbClr val="7657FF"/>
                </a:solidFill>
              </a:defRPr>
            </a:pPr>
            <a:r>
              <a:rPr sz="1875" b="1">
                <a:solidFill>
                  <a:srgbClr val="7657FF"/>
                </a:solidFill>
              </a:rPr>
              <a:t>&gt;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9DED826-079C-4AE2-A2B4-9FDF43430DC5}"/>
              </a:ext>
            </a:extLst>
          </p:cNvPr>
          <p:cNvSpPr>
            <a:spLocks noGrp="1"/>
          </p:cNvSpPr>
          <p:nvPr/>
        </p:nvSpPr>
        <p:spPr>
          <a:xfrm>
            <a:off x="495300" y="1552575"/>
            <a:ext cx="1885950" cy="1190625"/>
          </a:xfrm>
          <a:prstGeom prst="roundRect">
            <a:avLst>
              <a:gd name="adj" fmla="val 6400"/>
            </a:avLst>
          </a:prstGeom>
          <a:solidFill>
            <a:srgbClr val="EEEAFE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65556A-E815-4736-94A1-D36F6992DCB2}"/>
              </a:ext>
            </a:extLst>
          </p:cNvPr>
          <p:cNvSpPr>
            <a:spLocks noGrp="1"/>
          </p:cNvSpPr>
          <p:nvPr/>
        </p:nvSpPr>
        <p:spPr>
          <a:xfrm>
            <a:off x="666750" y="1704975"/>
            <a:ext cx="323850" cy="38100"/>
          </a:xfrm>
          <a:prstGeom prst="rect">
            <a:avLst/>
          </a:prstGeom>
          <a:solidFill>
            <a:srgbClr val="7657FF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C570B6-B328-4406-8FB2-6C92D1746D94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1543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08" lnSpcReduction="10000"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UNTRUSTED INPUT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F0417E-904F-46BD-9D47-674928A596C3}"/>
              </a:ext>
            </a:extLst>
          </p:cNvPr>
          <p:cNvSpPr>
            <a:spLocks noGrp="1"/>
          </p:cNvSpPr>
          <p:nvPr/>
        </p:nvSpPr>
        <p:spPr>
          <a:xfrm>
            <a:off x="666750" y="2181225"/>
            <a:ext cx="15430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75" b="0">
                <a:solidFill>
                  <a:srgbClr val="5D626D"/>
                </a:solidFill>
              </a:defRPr>
            </a:pPr>
            <a:r>
              <a:rPr sz="975" b="0">
                <a:solidFill>
                  <a:srgbClr val="5D626D"/>
                </a:solidFill>
              </a:rPr>
              <a:t>AI or algorithmic candidate batch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45AF70B-103D-497D-8E15-638EE83687DF}"/>
              </a:ext>
            </a:extLst>
          </p:cNvPr>
          <p:cNvSpPr>
            <a:spLocks noGrp="1"/>
          </p:cNvSpPr>
          <p:nvPr/>
        </p:nvSpPr>
        <p:spPr>
          <a:xfrm>
            <a:off x="2990850" y="1552575"/>
            <a:ext cx="2171700" cy="1190625"/>
          </a:xfrm>
          <a:prstGeom prst="roundRect">
            <a:avLst>
              <a:gd name="adj" fmla="val 6400"/>
            </a:avLst>
          </a:prstGeom>
          <a:solidFill>
            <a:srgbClr val="FCE8ED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257586-2876-480A-9399-10D1809530B0}"/>
              </a:ext>
            </a:extLst>
          </p:cNvPr>
          <p:cNvSpPr>
            <a:spLocks noGrp="1"/>
          </p:cNvSpPr>
          <p:nvPr/>
        </p:nvSpPr>
        <p:spPr>
          <a:xfrm>
            <a:off x="3162300" y="1704975"/>
            <a:ext cx="323850" cy="38100"/>
          </a:xfrm>
          <a:prstGeom prst="rect">
            <a:avLst/>
          </a:prstGeom>
          <a:solidFill>
            <a:srgbClr val="F45B7A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A96280-19C0-4714-8422-5814D1FF8EBE}"/>
              </a:ext>
            </a:extLst>
          </p:cNvPr>
          <p:cNvSpPr>
            <a:spLocks noGrp="1"/>
          </p:cNvSpPr>
          <p:nvPr/>
        </p:nvSpPr>
        <p:spPr>
          <a:xfrm>
            <a:off x="3162300" y="1857375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VALIDATE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5909A2-5F00-48DE-A481-40CC175F709D}"/>
              </a:ext>
            </a:extLst>
          </p:cNvPr>
          <p:cNvSpPr>
            <a:spLocks noGrp="1"/>
          </p:cNvSpPr>
          <p:nvPr/>
        </p:nvSpPr>
        <p:spPr>
          <a:xfrm>
            <a:off x="3162300" y="2181225"/>
            <a:ext cx="18288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396"/>
          </a:bodyPr>
          <a:lstStyle/>
          <a:p>
            <a:pPr algn="l">
              <a:defRPr sz="975" b="0">
                <a:solidFill>
                  <a:srgbClr val="5D626D"/>
                </a:solidFill>
              </a:defRPr>
            </a:pPr>
            <a:r>
              <a:rPr sz="975" b="0">
                <a:solidFill>
                  <a:srgbClr val="5D626D"/>
                </a:solidFill>
              </a:rPr>
              <a:t>schema, safety, legality, privacy, boundaries, capability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72ACED1-7FB1-4CDF-9DA4-345650E53063}"/>
              </a:ext>
            </a:extLst>
          </p:cNvPr>
          <p:cNvSpPr>
            <a:spLocks noGrp="1"/>
          </p:cNvSpPr>
          <p:nvPr/>
        </p:nvSpPr>
        <p:spPr>
          <a:xfrm>
            <a:off x="5772150" y="1552575"/>
            <a:ext cx="2171700" cy="1190625"/>
          </a:xfrm>
          <a:prstGeom prst="roundRect">
            <a:avLst>
              <a:gd name="adj" fmla="val 6400"/>
            </a:avLst>
          </a:prstGeom>
          <a:solidFill>
            <a:srgbClr val="E4F7FD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0DE94F-49A9-4842-854E-87986B2EE2E2}"/>
              </a:ext>
            </a:extLst>
          </p:cNvPr>
          <p:cNvSpPr>
            <a:spLocks noGrp="1"/>
          </p:cNvSpPr>
          <p:nvPr/>
        </p:nvSpPr>
        <p:spPr>
          <a:xfrm>
            <a:off x="5943600" y="1704975"/>
            <a:ext cx="323850" cy="38100"/>
          </a:xfrm>
          <a:prstGeom prst="rect">
            <a:avLst/>
          </a:prstGeom>
          <a:solidFill>
            <a:srgbClr val="34BDEB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E1DD92-3FDF-43B8-9930-93879741F0B0}"/>
              </a:ext>
            </a:extLst>
          </p:cNvPr>
          <p:cNvSpPr>
            <a:spLocks noGrp="1"/>
          </p:cNvSpPr>
          <p:nvPr/>
        </p:nvSpPr>
        <p:spPr>
          <a:xfrm>
            <a:off x="5943600" y="1857375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REPLACE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9B2735-FBC7-4E85-97DC-40FAEDEBFF4D}"/>
              </a:ext>
            </a:extLst>
          </p:cNvPr>
          <p:cNvSpPr>
            <a:spLocks noGrp="1"/>
          </p:cNvSpPr>
          <p:nvPr/>
        </p:nvSpPr>
        <p:spPr>
          <a:xfrm>
            <a:off x="5943600" y="2181225"/>
            <a:ext cx="18288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75" b="0">
                <a:solidFill>
                  <a:srgbClr val="5D626D"/>
                </a:solidFill>
              </a:defRPr>
            </a:pPr>
            <a:r>
              <a:rPr sz="975" b="0">
                <a:solidFill>
                  <a:srgbClr val="5D626D"/>
                </a:solidFill>
              </a:rPr>
              <a:t>deterministic fallback fills invalid or missing options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F68B2BD-9185-42A5-ABD9-9C8D2EC90DB2}"/>
              </a:ext>
            </a:extLst>
          </p:cNvPr>
          <p:cNvSpPr>
            <a:spLocks noGrp="1"/>
          </p:cNvSpPr>
          <p:nvPr/>
        </p:nvSpPr>
        <p:spPr>
          <a:xfrm>
            <a:off x="8553450" y="1552575"/>
            <a:ext cx="3143250" cy="1190625"/>
          </a:xfrm>
          <a:prstGeom prst="roundRect">
            <a:avLst>
              <a:gd name="adj" fmla="val 6400"/>
            </a:avLst>
          </a:prstGeom>
          <a:solidFill>
            <a:srgbClr val="EEF7C8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3976C9-588A-40F8-834F-D27947C1A34D}"/>
              </a:ext>
            </a:extLst>
          </p:cNvPr>
          <p:cNvSpPr>
            <a:spLocks noGrp="1"/>
          </p:cNvSpPr>
          <p:nvPr/>
        </p:nvSpPr>
        <p:spPr>
          <a:xfrm>
            <a:off x="8724900" y="1704975"/>
            <a:ext cx="323850" cy="38100"/>
          </a:xfrm>
          <a:prstGeom prst="rect">
            <a:avLst/>
          </a:prstGeom>
          <a:solidFill>
            <a:srgbClr val="C9F53B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0D7172-420F-4CA1-A67D-D0E6BD5F7F5C}"/>
              </a:ext>
            </a:extLst>
          </p:cNvPr>
          <p:cNvSpPr>
            <a:spLocks noGrp="1"/>
          </p:cNvSpPr>
          <p:nvPr/>
        </p:nvSpPr>
        <p:spPr>
          <a:xfrm>
            <a:off x="8724900" y="1857375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EXACTLY THREE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C0B9B4-E949-49B7-A659-6AF78290B60F}"/>
              </a:ext>
            </a:extLst>
          </p:cNvPr>
          <p:cNvSpPr>
            <a:spLocks noGrp="1"/>
          </p:cNvSpPr>
          <p:nvPr/>
        </p:nvSpPr>
        <p:spPr>
          <a:xfrm>
            <a:off x="8724900" y="2181225"/>
            <a:ext cx="28003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75" b="0">
                <a:solidFill>
                  <a:srgbClr val="5D626D"/>
                </a:solidFill>
              </a:defRPr>
            </a:pPr>
            <a:r>
              <a:rPr sz="975" b="0">
                <a:solidFill>
                  <a:srgbClr val="5D626D"/>
                </a:solidFill>
              </a:rPr>
              <a:t>clear, distinct, feasible, vote-ready quests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8A1E91-2610-41FF-AE90-63D2DE5CBCCC}"/>
              </a:ext>
            </a:extLst>
          </p:cNvPr>
          <p:cNvSpPr>
            <a:spLocks noGrp="1"/>
          </p:cNvSpPr>
          <p:nvPr/>
        </p:nvSpPr>
        <p:spPr>
          <a:xfrm>
            <a:off x="495300" y="32385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7657FF"/>
                </a:solidFill>
              </a:defRPr>
            </a:pPr>
            <a:r>
              <a:rPr sz="900" b="1">
                <a:solidFill>
                  <a:srgbClr val="7657FF"/>
                </a:solidFill>
              </a:rPr>
              <a:t>DETERMINISTIC LIFECYCLE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88DCBF1-6D0A-4008-B475-3E348A1B6724}"/>
              </a:ext>
            </a:extLst>
          </p:cNvPr>
          <p:cNvSpPr>
            <a:spLocks noGrp="1"/>
          </p:cNvSpPr>
          <p:nvPr/>
        </p:nvSpPr>
        <p:spPr>
          <a:xfrm>
            <a:off x="495300" y="3638550"/>
            <a:ext cx="1381125" cy="542925"/>
          </a:xfrm>
          <a:prstGeom prst="roundRect">
            <a:avLst>
              <a:gd name="adj" fmla="val 14035"/>
            </a:avLst>
          </a:prstGeom>
          <a:solidFill>
            <a:srgbClr val="F6F7F9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FB4282-565A-45E6-8271-178FF4D27370}"/>
              </a:ext>
            </a:extLst>
          </p:cNvPr>
          <p:cNvSpPr>
            <a:spLocks noGrp="1"/>
          </p:cNvSpPr>
          <p:nvPr/>
        </p:nvSpPr>
        <p:spPr>
          <a:xfrm>
            <a:off x="571500" y="3829050"/>
            <a:ext cx="12287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97" lnSpcReduction="10000"/>
          </a:bodyPr>
          <a:lstStyle/>
          <a:p>
            <a:pPr algn="ctr">
              <a:defRPr sz="975" b="1">
                <a:solidFill>
                  <a:srgbClr val="101014"/>
                </a:solidFill>
              </a:defRPr>
            </a:pPr>
            <a:r>
              <a:rPr sz="975" b="1">
                <a:solidFill>
                  <a:srgbClr val="101014"/>
                </a:solidFill>
              </a:rPr>
              <a:t>PROPOSED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128610-D66E-41C8-ACF4-B92038BE9B90}"/>
              </a:ext>
            </a:extLst>
          </p:cNvPr>
          <p:cNvSpPr>
            <a:spLocks noGrp="1"/>
          </p:cNvSpPr>
          <p:nvPr/>
        </p:nvSpPr>
        <p:spPr>
          <a:xfrm>
            <a:off x="1914525" y="3743325"/>
            <a:ext cx="20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10000"/>
          </a:bodyPr>
          <a:lstStyle/>
          <a:p>
            <a:pPr algn="ctr">
              <a:defRPr sz="1875" b="1">
                <a:solidFill>
                  <a:srgbClr val="7657FF"/>
                </a:solidFill>
              </a:defRPr>
            </a:pPr>
            <a:r>
              <a:rPr sz="1875" b="1">
                <a:solidFill>
                  <a:srgbClr val="7657FF"/>
                </a:solidFill>
              </a:rPr>
              <a:t>&gt;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D6413CF-06F1-470F-8414-8757B0340C2C}"/>
              </a:ext>
            </a:extLst>
          </p:cNvPr>
          <p:cNvSpPr>
            <a:spLocks noGrp="1"/>
          </p:cNvSpPr>
          <p:nvPr/>
        </p:nvSpPr>
        <p:spPr>
          <a:xfrm>
            <a:off x="2171700" y="3638550"/>
            <a:ext cx="1257300" cy="542925"/>
          </a:xfrm>
          <a:prstGeom prst="roundRect">
            <a:avLst>
              <a:gd name="adj" fmla="val 14035"/>
            </a:avLst>
          </a:prstGeom>
          <a:solidFill>
            <a:srgbClr val="F6F7F9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811DCD-1AD1-4819-8A78-40B119F06538}"/>
              </a:ext>
            </a:extLst>
          </p:cNvPr>
          <p:cNvSpPr>
            <a:spLocks noGrp="1"/>
          </p:cNvSpPr>
          <p:nvPr/>
        </p:nvSpPr>
        <p:spPr>
          <a:xfrm>
            <a:off x="2247900" y="3829050"/>
            <a:ext cx="1104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97" lnSpcReduction="10000"/>
          </a:bodyPr>
          <a:lstStyle/>
          <a:p>
            <a:pPr algn="ctr">
              <a:defRPr sz="975" b="1">
                <a:solidFill>
                  <a:srgbClr val="101014"/>
                </a:solidFill>
              </a:defRPr>
            </a:pPr>
            <a:r>
              <a:rPr sz="975" b="1">
                <a:solidFill>
                  <a:srgbClr val="101014"/>
                </a:solidFill>
              </a:rPr>
              <a:t>VOTING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BCAA77E-9E8A-434D-B3A9-2E9CE4DD5F23}"/>
              </a:ext>
            </a:extLst>
          </p:cNvPr>
          <p:cNvSpPr>
            <a:spLocks noGrp="1"/>
          </p:cNvSpPr>
          <p:nvPr/>
        </p:nvSpPr>
        <p:spPr>
          <a:xfrm>
            <a:off x="3467100" y="3743325"/>
            <a:ext cx="20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10000"/>
          </a:bodyPr>
          <a:lstStyle/>
          <a:p>
            <a:pPr algn="ctr">
              <a:defRPr sz="1875" b="1">
                <a:solidFill>
                  <a:srgbClr val="7657FF"/>
                </a:solidFill>
              </a:defRPr>
            </a:pPr>
            <a:r>
              <a:rPr sz="1875" b="1">
                <a:solidFill>
                  <a:srgbClr val="7657FF"/>
                </a:solidFill>
              </a:rPr>
              <a:t>&gt;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7860E89-3091-4338-9C79-37ED9C2B4FEF}"/>
              </a:ext>
            </a:extLst>
          </p:cNvPr>
          <p:cNvSpPr>
            <a:spLocks noGrp="1"/>
          </p:cNvSpPr>
          <p:nvPr/>
        </p:nvSpPr>
        <p:spPr>
          <a:xfrm>
            <a:off x="3733800" y="3638550"/>
            <a:ext cx="1200150" cy="542925"/>
          </a:xfrm>
          <a:prstGeom prst="roundRect">
            <a:avLst>
              <a:gd name="adj" fmla="val 14035"/>
            </a:avLst>
          </a:prstGeom>
          <a:solidFill>
            <a:srgbClr val="F6F7F9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637392-8478-469B-B1AA-C9CA453E0DAE}"/>
              </a:ext>
            </a:extLst>
          </p:cNvPr>
          <p:cNvSpPr>
            <a:spLocks noGrp="1"/>
          </p:cNvSpPr>
          <p:nvPr/>
        </p:nvSpPr>
        <p:spPr>
          <a:xfrm>
            <a:off x="3810000" y="3829050"/>
            <a:ext cx="1047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97" lnSpcReduction="10000"/>
          </a:bodyPr>
          <a:lstStyle/>
          <a:p>
            <a:pPr algn="ctr">
              <a:defRPr sz="975" b="1">
                <a:solidFill>
                  <a:srgbClr val="101014"/>
                </a:solidFill>
              </a:defRPr>
            </a:pPr>
            <a:r>
              <a:rPr sz="975" b="1">
                <a:solidFill>
                  <a:srgbClr val="101014"/>
                </a:solidFill>
              </a:rPr>
              <a:t>ACTIVE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2923D6A-8279-4FFC-B325-F7924A65DBA3}"/>
              </a:ext>
            </a:extLst>
          </p:cNvPr>
          <p:cNvSpPr>
            <a:spLocks noGrp="1"/>
          </p:cNvSpPr>
          <p:nvPr/>
        </p:nvSpPr>
        <p:spPr>
          <a:xfrm>
            <a:off x="4972050" y="3743325"/>
            <a:ext cx="20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10000"/>
          </a:bodyPr>
          <a:lstStyle/>
          <a:p>
            <a:pPr algn="ctr">
              <a:defRPr sz="1875" b="1">
                <a:solidFill>
                  <a:srgbClr val="7657FF"/>
                </a:solidFill>
              </a:defRPr>
            </a:pPr>
            <a:r>
              <a:rPr sz="1875" b="1">
                <a:solidFill>
                  <a:srgbClr val="7657FF"/>
                </a:solidFill>
              </a:rPr>
              <a:t>&gt;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D332035-A6A8-4FEC-A5FD-EE33F1365F4E}"/>
              </a:ext>
            </a:extLst>
          </p:cNvPr>
          <p:cNvSpPr>
            <a:spLocks noGrp="1"/>
          </p:cNvSpPr>
          <p:nvPr/>
        </p:nvSpPr>
        <p:spPr>
          <a:xfrm>
            <a:off x="5238750" y="3638550"/>
            <a:ext cx="3714750" cy="542925"/>
          </a:xfrm>
          <a:prstGeom prst="roundRect">
            <a:avLst>
              <a:gd name="adj" fmla="val 14035"/>
            </a:avLst>
          </a:prstGeom>
          <a:solidFill>
            <a:srgbClr val="0D0B14"/>
          </a:solidFill>
          <a:ln w="9525">
            <a:solidFill>
              <a:srgbClr val="45404E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45864AB-2DB6-41A3-B478-8A3674501478}"/>
              </a:ext>
            </a:extLst>
          </p:cNvPr>
          <p:cNvSpPr>
            <a:spLocks noGrp="1"/>
          </p:cNvSpPr>
          <p:nvPr/>
        </p:nvSpPr>
        <p:spPr>
          <a:xfrm>
            <a:off x="5314950" y="3829050"/>
            <a:ext cx="35623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056"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SUCCESS / FAIL / CANCEL / SKIP / EXPIRE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37EE25-3B8C-4569-9ABE-CA7978533178}"/>
              </a:ext>
            </a:extLst>
          </p:cNvPr>
          <p:cNvSpPr>
            <a:spLocks noGrp="1"/>
          </p:cNvSpPr>
          <p:nvPr/>
        </p:nvSpPr>
        <p:spPr>
          <a:xfrm>
            <a:off x="8991600" y="3743325"/>
            <a:ext cx="20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10000"/>
          </a:bodyPr>
          <a:lstStyle/>
          <a:p>
            <a:pPr algn="ctr">
              <a:defRPr sz="1875" b="1">
                <a:solidFill>
                  <a:srgbClr val="7657FF"/>
                </a:solidFill>
              </a:defRPr>
            </a:pPr>
            <a:r>
              <a:rPr sz="1875" b="1">
                <a:solidFill>
                  <a:srgbClr val="7657FF"/>
                </a:solidFill>
              </a:rPr>
              <a:t>&gt;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8A1B82E-7F27-4318-B604-CADF3B2DE287}"/>
              </a:ext>
            </a:extLst>
          </p:cNvPr>
          <p:cNvSpPr>
            <a:spLocks noGrp="1"/>
          </p:cNvSpPr>
          <p:nvPr/>
        </p:nvSpPr>
        <p:spPr>
          <a:xfrm>
            <a:off x="9258300" y="3638550"/>
            <a:ext cx="1381125" cy="542925"/>
          </a:xfrm>
          <a:prstGeom prst="roundRect">
            <a:avLst>
              <a:gd name="adj" fmla="val 14035"/>
            </a:avLst>
          </a:prstGeom>
          <a:solidFill>
            <a:srgbClr val="F6F7F9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E36C606-F9C3-46BB-AB5E-611F8527C852}"/>
              </a:ext>
            </a:extLst>
          </p:cNvPr>
          <p:cNvSpPr>
            <a:spLocks noGrp="1"/>
          </p:cNvSpPr>
          <p:nvPr/>
        </p:nvSpPr>
        <p:spPr>
          <a:xfrm>
            <a:off x="9334500" y="3829050"/>
            <a:ext cx="12287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97" lnSpcReduction="10000"/>
          </a:bodyPr>
          <a:lstStyle/>
          <a:p>
            <a:pPr algn="ctr">
              <a:defRPr sz="975" b="1">
                <a:solidFill>
                  <a:srgbClr val="101014"/>
                </a:solidFill>
              </a:defRPr>
            </a:pPr>
            <a:r>
              <a:rPr sz="975" b="1">
                <a:solidFill>
                  <a:srgbClr val="101014"/>
                </a:solidFill>
              </a:rPr>
              <a:t>COOLDOWN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D3965B6-C08E-471C-940E-7ED85FF601E2}"/>
              </a:ext>
            </a:extLst>
          </p:cNvPr>
          <p:cNvSpPr>
            <a:spLocks noGrp="1"/>
          </p:cNvSpPr>
          <p:nvPr/>
        </p:nvSpPr>
        <p:spPr>
          <a:xfrm>
            <a:off x="495300" y="4648200"/>
            <a:ext cx="11201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5D626D"/>
                </a:solidFill>
              </a:defRPr>
            </a:pPr>
            <a:r>
              <a:rPr sz="1350" b="0">
                <a:solidFill>
                  <a:srgbClr val="5D626D"/>
                </a:solidFill>
              </a:rPr>
              <a:t>Server time closes the 30-second vote. The engine resolves majority, ties, zero votes, points, hype, and allowed actions. Streamer auto/manual mode changes approval flow, never safety rules.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FC00B20B-9B2B-4807-BAC0-98BBE3A7F535}"/>
              </a:ext>
            </a:extLst>
          </p:cNvPr>
          <p:cNvSpPr>
            <a:spLocks noGrp="1"/>
          </p:cNvSpPr>
          <p:nvPr/>
        </p:nvSpPr>
        <p:spPr>
          <a:xfrm>
            <a:off x="2476500" y="5514975"/>
            <a:ext cx="7239000" cy="361950"/>
          </a:xfrm>
          <a:prstGeom prst="roundRect">
            <a:avLst>
              <a:gd name="adj" fmla="val 21053"/>
            </a:avLst>
          </a:prstGeom>
          <a:solidFill>
            <a:srgbClr val="0D0B14"/>
          </a:solidFill>
          <a:ln w="0">
            <a:noFill/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150EB94-B555-4F41-A095-89D2FBAFFC22}"/>
              </a:ext>
            </a:extLst>
          </p:cNvPr>
          <p:cNvSpPr>
            <a:spLocks noGrp="1"/>
          </p:cNvSpPr>
          <p:nvPr/>
        </p:nvSpPr>
        <p:spPr>
          <a:xfrm>
            <a:off x="2628900" y="5619750"/>
            <a:ext cx="6934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905" lnSpcReduction="10000"/>
          </a:bodyPr>
          <a:lstStyle/>
          <a:p>
            <a:pPr algn="ctr">
              <a:defRPr sz="1050" b="1">
                <a:solidFill>
                  <a:srgbClr val="C9F53B"/>
                </a:solidFill>
              </a:defRPr>
            </a:pPr>
            <a:r>
              <a:rPr sz="1050" b="1">
                <a:solidFill>
                  <a:srgbClr val="C9F53B"/>
                </a:solidFill>
              </a:rPr>
              <a:t>UIs display state. They do not calculate winners, rewards, or transitions.</a:t>
            </a:r>
          </a:p>
        </p:txBody>
      </p:sp>
      <p:sp>
        <p:nvSpPr>
          <p:cNvPr id="43" name="slide-13-evidence">
            <a:extLst>
              <a:ext uri="{FF2B5EF4-FFF2-40B4-BE49-F238E27FC236}">
                <a16:creationId xmlns:a16="http://schemas.microsoft.com/office/drawing/2014/main" id="{88A2FA82-16F4-4ABB-9BBE-BBFCAD9C3873}"/>
              </a:ext>
            </a:extLst>
          </p:cNvPr>
          <p:cNvSpPr>
            <a:spLocks noGrp="1"/>
          </p:cNvSpPr>
          <p:nvPr/>
        </p:nvSpPr>
        <p:spPr>
          <a:xfrm>
            <a:off x="495300" y="6029325"/>
            <a:ext cx="1057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825" b="0">
                <a:solidFill>
                  <a:srgbClr val="5D626D"/>
                </a:solidFill>
              </a:defRPr>
            </a:pPr>
            <a:r>
              <a:rPr sz="825" b="0">
                <a:solidFill>
                  <a:srgbClr val="5D626D"/>
                </a:solidFill>
              </a:rPr>
              <a:t>Technical authority: pure deterministic engine; AI output is always validated before viewers or overlay.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6B8F18F-35B5-4761-8169-2BB25DEB444F}"/>
              </a:ext>
            </a:extLst>
          </p:cNvPr>
          <p:cNvSpPr>
            <a:spLocks noGrp="1"/>
          </p:cNvSpPr>
          <p:nvPr/>
        </p:nvSpPr>
        <p:spPr>
          <a:xfrm>
            <a:off x="495300" y="6343650"/>
            <a:ext cx="1120140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45" name="slide-13-repo">
            <a:extLst>
              <a:ext uri="{FF2B5EF4-FFF2-40B4-BE49-F238E27FC236}">
                <a16:creationId xmlns:a16="http://schemas.microsoft.com/office/drawing/2014/main" id="{2F60F114-8887-404B-A22D-A0E7E6BA3C2E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l">
              <a:defRPr sz="750" b="0">
                <a:solidFill>
                  <a:srgbClr val="5D626D"/>
                </a:solidFill>
              </a:defRPr>
            </a:pPr>
            <a:r>
              <a:rPr sz="750" b="0">
                <a:solidFill>
                  <a:srgbClr val="5D626D"/>
                </a:solidFill>
              </a:rPr>
              <a:t>REPO LENS  src/quest-engine/  |  src/quest-engine/validation.ts  |  src/core/contracts/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41EF5B7-C69B-47D8-9900-6A162DAE22C6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r">
              <a:defRPr sz="750" b="1">
                <a:solidFill>
                  <a:srgbClr val="5D626D"/>
                </a:solidFill>
              </a:defRPr>
            </a:pPr>
            <a:r>
              <a:rPr sz="750" b="1">
                <a:solidFill>
                  <a:srgbClr val="5D626D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7340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lide-14-title">
            <a:extLst>
              <a:ext uri="{FF2B5EF4-FFF2-40B4-BE49-F238E27FC236}">
                <a16:creationId xmlns:a16="http://schemas.microsoft.com/office/drawing/2014/main" id="{8CF4CC56-DDE0-4CA8-8618-389E0CF88E1C}"/>
              </a:ext>
            </a:extLst>
          </p:cNvPr>
          <p:cNvSpPr>
            <a:spLocks noGrp="1"/>
          </p:cNvSpPr>
          <p:nvPr/>
        </p:nvSpPr>
        <p:spPr>
          <a:xfrm>
            <a:off x="495300" y="381000"/>
            <a:ext cx="9334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294"/>
          </a:bodyPr>
          <a:lstStyle/>
          <a:p>
            <a:pPr algn="l">
              <a:defRPr sz="2925" b="1">
                <a:solidFill>
                  <a:srgbClr val="101014"/>
                </a:solidFill>
              </a:defRPr>
            </a:pPr>
            <a:r>
              <a:rPr sz="2925" b="1">
                <a:solidFill>
                  <a:srgbClr val="101014"/>
                </a:solidFill>
              </a:rPr>
              <a:t>One authoritative architecture keeps every surface consistent</a:t>
            </a:r>
          </a:p>
        </p:txBody>
      </p:sp>
      <p:sp>
        <p:nvSpPr>
          <p:cNvPr id="2" name="slide-14-section">
            <a:extLst>
              <a:ext uri="{FF2B5EF4-FFF2-40B4-BE49-F238E27FC236}">
                <a16:creationId xmlns:a16="http://schemas.microsoft.com/office/drawing/2014/main" id="{B8F3BD90-1EFB-4E4C-BD01-0C864B338AEC}"/>
              </a:ext>
            </a:extLst>
          </p:cNvPr>
          <p:cNvSpPr>
            <a:spLocks noGrp="1"/>
          </p:cNvSpPr>
          <p:nvPr/>
        </p:nvSpPr>
        <p:spPr>
          <a:xfrm>
            <a:off x="10191750" y="447675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75" b="1">
                <a:solidFill>
                  <a:srgbClr val="7657FF"/>
                </a:solidFill>
              </a:defRPr>
            </a:pPr>
            <a:r>
              <a:rPr sz="975" b="1">
                <a:solidFill>
                  <a:srgbClr val="7657FF"/>
                </a:solidFill>
              </a:rPr>
              <a:t>MECHANISM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1104F8-7796-4940-9A66-02FF47F1F331}"/>
              </a:ext>
            </a:extLst>
          </p:cNvPr>
          <p:cNvSpPr>
            <a:spLocks noGrp="1"/>
          </p:cNvSpPr>
          <p:nvPr/>
        </p:nvSpPr>
        <p:spPr>
          <a:xfrm>
            <a:off x="2000250" y="2228850"/>
            <a:ext cx="285750" cy="2857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C52484-2CB6-4B22-8AE7-0E05D3440C77}"/>
              </a:ext>
            </a:extLst>
          </p:cNvPr>
          <p:cNvSpPr>
            <a:spLocks noGrp="1"/>
          </p:cNvSpPr>
          <p:nvPr/>
        </p:nvSpPr>
        <p:spPr>
          <a:xfrm>
            <a:off x="2000250" y="2066925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34" lnSpcReduction="10000"/>
          </a:bodyPr>
          <a:lstStyle/>
          <a:p>
            <a:pPr algn="ctr">
              <a:defRPr sz="1875" b="1">
                <a:solidFill>
                  <a:srgbClr val="7657FF"/>
                </a:solidFill>
              </a:defRPr>
            </a:pPr>
            <a:r>
              <a:rPr sz="1875" b="1">
                <a:solidFill>
                  <a:srgbClr val="7657FF"/>
                </a:solidFill>
              </a:rPr>
              <a:t>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33E5A5-793E-452B-998F-DFAB8ED2017A}"/>
              </a:ext>
            </a:extLst>
          </p:cNvPr>
          <p:cNvSpPr>
            <a:spLocks noGrp="1"/>
          </p:cNvSpPr>
          <p:nvPr/>
        </p:nvSpPr>
        <p:spPr>
          <a:xfrm>
            <a:off x="3810000" y="2228850"/>
            <a:ext cx="285750" cy="2857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6DEA25-C913-46FD-820F-C682CEF79B3B}"/>
              </a:ext>
            </a:extLst>
          </p:cNvPr>
          <p:cNvSpPr>
            <a:spLocks noGrp="1"/>
          </p:cNvSpPr>
          <p:nvPr/>
        </p:nvSpPr>
        <p:spPr>
          <a:xfrm>
            <a:off x="3810000" y="2066925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34" lnSpcReduction="10000"/>
          </a:bodyPr>
          <a:lstStyle/>
          <a:p>
            <a:pPr algn="ctr">
              <a:defRPr sz="1875" b="1">
                <a:solidFill>
                  <a:srgbClr val="7657FF"/>
                </a:solidFill>
              </a:defRPr>
            </a:pPr>
            <a:r>
              <a:rPr sz="1875" b="1">
                <a:solidFill>
                  <a:srgbClr val="7657FF"/>
                </a:solidFill>
              </a:rPr>
              <a:t>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91C31D-6C89-4CAE-8521-250398AB7C53}"/>
              </a:ext>
            </a:extLst>
          </p:cNvPr>
          <p:cNvSpPr>
            <a:spLocks noGrp="1"/>
          </p:cNvSpPr>
          <p:nvPr/>
        </p:nvSpPr>
        <p:spPr>
          <a:xfrm>
            <a:off x="5619750" y="2228850"/>
            <a:ext cx="285750" cy="2857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EBFBAE-2108-4126-9545-87B609A32E7E}"/>
              </a:ext>
            </a:extLst>
          </p:cNvPr>
          <p:cNvSpPr>
            <a:spLocks noGrp="1"/>
          </p:cNvSpPr>
          <p:nvPr/>
        </p:nvSpPr>
        <p:spPr>
          <a:xfrm>
            <a:off x="5619750" y="2066925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34" lnSpcReduction="10000"/>
          </a:bodyPr>
          <a:lstStyle/>
          <a:p>
            <a:pPr algn="ctr">
              <a:defRPr sz="1875" b="1">
                <a:solidFill>
                  <a:srgbClr val="7657FF"/>
                </a:solidFill>
              </a:defRPr>
            </a:pPr>
            <a:r>
              <a:rPr sz="1875" b="1">
                <a:solidFill>
                  <a:srgbClr val="7657FF"/>
                </a:solidFill>
              </a:rPr>
              <a:t>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7B636-45AE-43E9-93D5-8C754EDA131F}"/>
              </a:ext>
            </a:extLst>
          </p:cNvPr>
          <p:cNvSpPr>
            <a:spLocks noGrp="1"/>
          </p:cNvSpPr>
          <p:nvPr/>
        </p:nvSpPr>
        <p:spPr>
          <a:xfrm>
            <a:off x="7429500" y="2228850"/>
            <a:ext cx="285750" cy="2857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AF1095-00E1-4982-BE57-DDB80EB46332}"/>
              </a:ext>
            </a:extLst>
          </p:cNvPr>
          <p:cNvSpPr>
            <a:spLocks noGrp="1"/>
          </p:cNvSpPr>
          <p:nvPr/>
        </p:nvSpPr>
        <p:spPr>
          <a:xfrm>
            <a:off x="7429500" y="2066925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34" lnSpcReduction="10000"/>
          </a:bodyPr>
          <a:lstStyle/>
          <a:p>
            <a:pPr algn="ctr">
              <a:defRPr sz="1875" b="1">
                <a:solidFill>
                  <a:srgbClr val="7657FF"/>
                </a:solidFill>
              </a:defRPr>
            </a:pPr>
            <a:r>
              <a:rPr sz="1875" b="1">
                <a:solidFill>
                  <a:srgbClr val="7657FF"/>
                </a:solidFill>
              </a:rPr>
              <a:t>&gt;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9140E4-D5AA-4F17-A2CB-CFD49FB38B1D}"/>
              </a:ext>
            </a:extLst>
          </p:cNvPr>
          <p:cNvSpPr>
            <a:spLocks noGrp="1"/>
          </p:cNvSpPr>
          <p:nvPr/>
        </p:nvSpPr>
        <p:spPr>
          <a:xfrm>
            <a:off x="9239250" y="2228850"/>
            <a:ext cx="285750" cy="2857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51A6C2-DE5D-4F13-9FC6-AFB14926B743}"/>
              </a:ext>
            </a:extLst>
          </p:cNvPr>
          <p:cNvSpPr>
            <a:spLocks noGrp="1"/>
          </p:cNvSpPr>
          <p:nvPr/>
        </p:nvSpPr>
        <p:spPr>
          <a:xfrm>
            <a:off x="9239250" y="2066925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34" lnSpcReduction="10000"/>
          </a:bodyPr>
          <a:lstStyle/>
          <a:p>
            <a:pPr algn="ctr">
              <a:defRPr sz="1875" b="1">
                <a:solidFill>
                  <a:srgbClr val="7657FF"/>
                </a:solidFill>
              </a:defRPr>
            </a:pPr>
            <a:r>
              <a:rPr sz="1875" b="1">
                <a:solidFill>
                  <a:srgbClr val="7657FF"/>
                </a:solidFill>
              </a:rPr>
              <a:t>&gt;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658D66E-0C46-4451-908D-974F49786269}"/>
              </a:ext>
            </a:extLst>
          </p:cNvPr>
          <p:cNvSpPr>
            <a:spLocks noGrp="1"/>
          </p:cNvSpPr>
          <p:nvPr/>
        </p:nvSpPr>
        <p:spPr>
          <a:xfrm>
            <a:off x="495300" y="1714500"/>
            <a:ext cx="1504950" cy="1057275"/>
          </a:xfrm>
          <a:prstGeom prst="roundRect">
            <a:avLst>
              <a:gd name="adj" fmla="val 7207"/>
            </a:avLst>
          </a:prstGeom>
          <a:solidFill>
            <a:srgbClr val="E4F7FD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AE4DC2-716D-4AA6-8D18-A83E56C40B87}"/>
              </a:ext>
            </a:extLst>
          </p:cNvPr>
          <p:cNvSpPr>
            <a:spLocks noGrp="1"/>
          </p:cNvSpPr>
          <p:nvPr/>
        </p:nvSpPr>
        <p:spPr>
          <a:xfrm>
            <a:off x="666750" y="1866900"/>
            <a:ext cx="323850" cy="38100"/>
          </a:xfrm>
          <a:prstGeom prst="rect">
            <a:avLst/>
          </a:prstGeom>
          <a:solidFill>
            <a:srgbClr val="34BDEB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86CD8D-022D-4F5E-9F68-CF2F14ACC082}"/>
              </a:ext>
            </a:extLst>
          </p:cNvPr>
          <p:cNvSpPr>
            <a:spLocks noGrp="1"/>
          </p:cNvSpPr>
          <p:nvPr/>
        </p:nvSpPr>
        <p:spPr>
          <a:xfrm>
            <a:off x="666750" y="201930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42"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TWITCH + OBS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855DE9-B734-4E87-84D6-BBC1DF536D14}"/>
              </a:ext>
            </a:extLst>
          </p:cNvPr>
          <p:cNvSpPr>
            <a:spLocks noGrp="1"/>
          </p:cNvSpPr>
          <p:nvPr/>
        </p:nvSpPr>
        <p:spPr>
          <a:xfrm>
            <a:off x="666750" y="2343150"/>
            <a:ext cx="11620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196"/>
          </a:bodyPr>
          <a:lstStyle/>
          <a:p>
            <a:pPr algn="l">
              <a:defRPr sz="975" b="0">
                <a:solidFill>
                  <a:srgbClr val="5D626D"/>
                </a:solidFill>
              </a:defRPr>
            </a:pPr>
            <a:r>
              <a:rPr sz="975" b="0">
                <a:solidFill>
                  <a:srgbClr val="5D626D"/>
                </a:solidFill>
              </a:rPr>
              <a:t>platform adapters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B488AED-D1DD-4E17-955A-EA24C15A648A}"/>
              </a:ext>
            </a:extLst>
          </p:cNvPr>
          <p:cNvSpPr>
            <a:spLocks noGrp="1"/>
          </p:cNvSpPr>
          <p:nvPr/>
        </p:nvSpPr>
        <p:spPr>
          <a:xfrm>
            <a:off x="2305050" y="1714500"/>
            <a:ext cx="1504950" cy="1057275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B34153-1B03-433A-8020-9CE0CBA278E7}"/>
              </a:ext>
            </a:extLst>
          </p:cNvPr>
          <p:cNvSpPr>
            <a:spLocks noGrp="1"/>
          </p:cNvSpPr>
          <p:nvPr/>
        </p:nvSpPr>
        <p:spPr>
          <a:xfrm>
            <a:off x="2476500" y="1866900"/>
            <a:ext cx="323850" cy="38100"/>
          </a:xfrm>
          <a:prstGeom prst="rect">
            <a:avLst/>
          </a:prstGeom>
          <a:solidFill>
            <a:srgbClr val="7657F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1F17DB-605E-495C-9E04-AA0A851B683A}"/>
              </a:ext>
            </a:extLst>
          </p:cNvPr>
          <p:cNvSpPr>
            <a:spLocks noGrp="1"/>
          </p:cNvSpPr>
          <p:nvPr/>
        </p:nvSpPr>
        <p:spPr>
          <a:xfrm>
            <a:off x="2476500" y="201930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CORE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8A7578-42F1-4057-B7D8-29E6752916B7}"/>
              </a:ext>
            </a:extLst>
          </p:cNvPr>
          <p:cNvSpPr>
            <a:spLocks noGrp="1"/>
          </p:cNvSpPr>
          <p:nvPr/>
        </p:nvSpPr>
        <p:spPr>
          <a:xfrm>
            <a:off x="2476500" y="2343150"/>
            <a:ext cx="11620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250"/>
          </a:bodyPr>
          <a:lstStyle/>
          <a:p>
            <a:pPr algn="l">
              <a:defRPr sz="975" b="0">
                <a:solidFill>
                  <a:srgbClr val="5D626D"/>
                </a:solidFill>
              </a:defRPr>
            </a:pPr>
            <a:r>
              <a:rPr sz="975" b="0">
                <a:solidFill>
                  <a:srgbClr val="5D626D"/>
                </a:solidFill>
              </a:rPr>
              <a:t>normalised contracts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1CFA8EA-F6AD-4BE2-A92F-E422CE6BEDFD}"/>
              </a:ext>
            </a:extLst>
          </p:cNvPr>
          <p:cNvSpPr>
            <a:spLocks noGrp="1"/>
          </p:cNvSpPr>
          <p:nvPr/>
        </p:nvSpPr>
        <p:spPr>
          <a:xfrm>
            <a:off x="4114800" y="1714500"/>
            <a:ext cx="1504950" cy="1057275"/>
          </a:xfrm>
          <a:prstGeom prst="roundRect">
            <a:avLst>
              <a:gd name="adj" fmla="val 7207"/>
            </a:avLst>
          </a:prstGeom>
          <a:solidFill>
            <a:srgbClr val="EEEAFE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739FC1-4F8B-4A2C-B144-609DCDFC6B8C}"/>
              </a:ext>
            </a:extLst>
          </p:cNvPr>
          <p:cNvSpPr>
            <a:spLocks noGrp="1"/>
          </p:cNvSpPr>
          <p:nvPr/>
        </p:nvSpPr>
        <p:spPr>
          <a:xfrm>
            <a:off x="4286250" y="1866900"/>
            <a:ext cx="323850" cy="38100"/>
          </a:xfrm>
          <a:prstGeom prst="rect">
            <a:avLst/>
          </a:prstGeom>
          <a:solidFill>
            <a:srgbClr val="7657FF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7FEDB4-6673-4F6B-8746-D18C0A8861FC}"/>
              </a:ext>
            </a:extLst>
          </p:cNvPr>
          <p:cNvSpPr>
            <a:spLocks noGrp="1"/>
          </p:cNvSpPr>
          <p:nvPr/>
        </p:nvSpPr>
        <p:spPr>
          <a:xfrm>
            <a:off x="4286250" y="201930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ROLE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7377C9-B2A7-4CB2-8927-2C7239884BF6}"/>
              </a:ext>
            </a:extLst>
          </p:cNvPr>
          <p:cNvSpPr>
            <a:spLocks noGrp="1"/>
          </p:cNvSpPr>
          <p:nvPr/>
        </p:nvSpPr>
        <p:spPr>
          <a:xfrm>
            <a:off x="4286250" y="2343150"/>
            <a:ext cx="11620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500" lnSpcReduction="10000"/>
          </a:bodyPr>
          <a:lstStyle/>
          <a:p>
            <a:pPr algn="l">
              <a:defRPr sz="975" b="0">
                <a:solidFill>
                  <a:srgbClr val="5D626D"/>
                </a:solidFill>
              </a:defRPr>
            </a:pPr>
            <a:r>
              <a:rPr sz="975" b="0">
                <a:solidFill>
                  <a:srgbClr val="5D626D"/>
                </a:solidFill>
              </a:rPr>
              <a:t>intelligence + candidates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8FDDD1F-B5FF-4889-8D18-D4C75A27DFDE}"/>
              </a:ext>
            </a:extLst>
          </p:cNvPr>
          <p:cNvSpPr>
            <a:spLocks noGrp="1"/>
          </p:cNvSpPr>
          <p:nvPr/>
        </p:nvSpPr>
        <p:spPr>
          <a:xfrm>
            <a:off x="5924550" y="1714500"/>
            <a:ext cx="1504950" cy="1057275"/>
          </a:xfrm>
          <a:prstGeom prst="roundRect">
            <a:avLst>
              <a:gd name="adj" fmla="val 7207"/>
            </a:avLst>
          </a:prstGeom>
          <a:solidFill>
            <a:srgbClr val="FCE8ED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208854-4E62-43B7-B6AE-15D37B082E95}"/>
              </a:ext>
            </a:extLst>
          </p:cNvPr>
          <p:cNvSpPr>
            <a:spLocks noGrp="1"/>
          </p:cNvSpPr>
          <p:nvPr/>
        </p:nvSpPr>
        <p:spPr>
          <a:xfrm>
            <a:off x="6096000" y="1866900"/>
            <a:ext cx="323850" cy="38100"/>
          </a:xfrm>
          <a:prstGeom prst="rect">
            <a:avLst/>
          </a:prstGeom>
          <a:solidFill>
            <a:srgbClr val="F45B7A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24EF7B-4CCB-4B4C-A189-D3DAA9D40226}"/>
              </a:ext>
            </a:extLst>
          </p:cNvPr>
          <p:cNvSpPr>
            <a:spLocks noGrp="1"/>
          </p:cNvSpPr>
          <p:nvPr/>
        </p:nvSpPr>
        <p:spPr>
          <a:xfrm>
            <a:off x="6096000" y="201930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ROLE 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AE7C48-BEC0-4DD5-97B8-B46F4226B8F9}"/>
              </a:ext>
            </a:extLst>
          </p:cNvPr>
          <p:cNvSpPr>
            <a:spLocks noGrp="1"/>
          </p:cNvSpPr>
          <p:nvPr/>
        </p:nvSpPr>
        <p:spPr>
          <a:xfrm>
            <a:off x="6096000" y="2343150"/>
            <a:ext cx="11620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042"/>
          </a:bodyPr>
          <a:lstStyle/>
          <a:p>
            <a:pPr algn="l">
              <a:defRPr sz="975" b="0">
                <a:solidFill>
                  <a:srgbClr val="5D626D"/>
                </a:solidFill>
              </a:defRPr>
            </a:pPr>
            <a:r>
              <a:rPr sz="975" b="0">
                <a:solidFill>
                  <a:srgbClr val="5D626D"/>
                </a:solidFill>
              </a:rPr>
              <a:t>deterministic engine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88460DD-E89C-41C4-B30D-108D5854ED2C}"/>
              </a:ext>
            </a:extLst>
          </p:cNvPr>
          <p:cNvSpPr>
            <a:spLocks noGrp="1"/>
          </p:cNvSpPr>
          <p:nvPr/>
        </p:nvSpPr>
        <p:spPr>
          <a:xfrm>
            <a:off x="7734300" y="1714500"/>
            <a:ext cx="1504950" cy="1057275"/>
          </a:xfrm>
          <a:prstGeom prst="roundRect">
            <a:avLst>
              <a:gd name="adj" fmla="val 7207"/>
            </a:avLst>
          </a:prstGeom>
          <a:solidFill>
            <a:srgbClr val="0D0B14"/>
          </a:solidFill>
          <a:ln w="9525">
            <a:solidFill>
              <a:srgbClr val="45404E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7607A8-C81A-4042-85D1-4622CC7D4CA4}"/>
              </a:ext>
            </a:extLst>
          </p:cNvPr>
          <p:cNvSpPr>
            <a:spLocks noGrp="1"/>
          </p:cNvSpPr>
          <p:nvPr/>
        </p:nvSpPr>
        <p:spPr>
          <a:xfrm>
            <a:off x="7905750" y="1866900"/>
            <a:ext cx="323850" cy="38100"/>
          </a:xfrm>
          <a:prstGeom prst="rect">
            <a:avLst/>
          </a:prstGeom>
          <a:solidFill>
            <a:srgbClr val="C9F53B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D7EE0F-3B8E-4C07-B026-B7C23E65F98C}"/>
              </a:ext>
            </a:extLst>
          </p:cNvPr>
          <p:cNvSpPr>
            <a:spLocks noGrp="1"/>
          </p:cNvSpPr>
          <p:nvPr/>
        </p:nvSpPr>
        <p:spPr>
          <a:xfrm>
            <a:off x="7905750" y="201930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ROLE 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B627CA-B932-4C7C-9F1A-E266C5A3D59F}"/>
              </a:ext>
            </a:extLst>
          </p:cNvPr>
          <p:cNvSpPr>
            <a:spLocks noGrp="1"/>
          </p:cNvSpPr>
          <p:nvPr/>
        </p:nvSpPr>
        <p:spPr>
          <a:xfrm>
            <a:off x="7905750" y="2343150"/>
            <a:ext cx="11620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419"/>
          </a:bodyPr>
          <a:lstStyle/>
          <a:p>
            <a:pPr algn="l">
              <a:defRPr sz="975" b="0">
                <a:solidFill>
                  <a:srgbClr val="BCB8C5"/>
                </a:solidFill>
              </a:defRPr>
            </a:pPr>
            <a:r>
              <a:rPr sz="975" b="0">
                <a:solidFill>
                  <a:srgbClr val="BCB8C5"/>
                </a:solidFill>
              </a:rPr>
              <a:t>orchestrate + persist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FE94C52-F5CB-48EB-AE7B-71A7E472B9B4}"/>
              </a:ext>
            </a:extLst>
          </p:cNvPr>
          <p:cNvSpPr>
            <a:spLocks noGrp="1"/>
          </p:cNvSpPr>
          <p:nvPr/>
        </p:nvSpPr>
        <p:spPr>
          <a:xfrm>
            <a:off x="9544050" y="1714500"/>
            <a:ext cx="1504950" cy="1057275"/>
          </a:xfrm>
          <a:prstGeom prst="roundRect">
            <a:avLst>
              <a:gd name="adj" fmla="val 7207"/>
            </a:avLst>
          </a:prstGeom>
          <a:solidFill>
            <a:srgbClr val="EEF7C8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11DFD7-13DA-41C4-8F9E-333AF283323B}"/>
              </a:ext>
            </a:extLst>
          </p:cNvPr>
          <p:cNvSpPr>
            <a:spLocks noGrp="1"/>
          </p:cNvSpPr>
          <p:nvPr/>
        </p:nvSpPr>
        <p:spPr>
          <a:xfrm>
            <a:off x="9715500" y="1866900"/>
            <a:ext cx="323850" cy="38100"/>
          </a:xfrm>
          <a:prstGeom prst="rect">
            <a:avLst/>
          </a:prstGeom>
          <a:solidFill>
            <a:srgbClr val="C9F53B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E4824E0-FAB1-432E-8E4A-340698F2B140}"/>
              </a:ext>
            </a:extLst>
          </p:cNvPr>
          <p:cNvSpPr>
            <a:spLocks noGrp="1"/>
          </p:cNvSpPr>
          <p:nvPr/>
        </p:nvSpPr>
        <p:spPr>
          <a:xfrm>
            <a:off x="9715500" y="201930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SURFACES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CFAB80-0C2C-4137-B833-3D0BF01DB5A2}"/>
              </a:ext>
            </a:extLst>
          </p:cNvPr>
          <p:cNvSpPr>
            <a:spLocks noGrp="1"/>
          </p:cNvSpPr>
          <p:nvPr/>
        </p:nvSpPr>
        <p:spPr>
          <a:xfrm>
            <a:off x="9715500" y="2343150"/>
            <a:ext cx="11620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500" lnSpcReduction="10000"/>
          </a:bodyPr>
          <a:lstStyle/>
          <a:p>
            <a:pPr algn="l">
              <a:defRPr sz="975" b="0">
                <a:solidFill>
                  <a:srgbClr val="5D626D"/>
                </a:solidFill>
              </a:defRPr>
            </a:pPr>
            <a:r>
              <a:rPr sz="975" b="0">
                <a:solidFill>
                  <a:srgbClr val="5D626D"/>
                </a:solidFill>
              </a:rPr>
              <a:t>Studio / viewer / overlay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32BE223-77B0-4BA3-BE72-7E1DCD933844}"/>
              </a:ext>
            </a:extLst>
          </p:cNvPr>
          <p:cNvSpPr>
            <a:spLocks noGrp="1"/>
          </p:cNvSpPr>
          <p:nvPr/>
        </p:nvSpPr>
        <p:spPr>
          <a:xfrm>
            <a:off x="495300" y="322897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7657FF"/>
                </a:solidFill>
              </a:defRPr>
            </a:pPr>
            <a:r>
              <a:rPr sz="900" b="1">
                <a:solidFill>
                  <a:srgbClr val="7657FF"/>
                </a:solidFill>
              </a:rPr>
              <a:t>TECHNICAL RIGOUR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3C36B2-399E-4B81-8662-BA965B40E2A0}"/>
              </a:ext>
            </a:extLst>
          </p:cNvPr>
          <p:cNvSpPr>
            <a:spLocks noGrp="1"/>
          </p:cNvSpPr>
          <p:nvPr/>
        </p:nvSpPr>
        <p:spPr>
          <a:xfrm>
            <a:off x="495300" y="3609975"/>
            <a:ext cx="22098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294" lnSpcReduction="10000"/>
          </a:bodyPr>
          <a:lstStyle/>
          <a:p>
            <a:pPr algn="l">
              <a:defRPr sz="1275" b="1">
                <a:solidFill>
                  <a:srgbClr val="101014"/>
                </a:solidFill>
              </a:defRPr>
            </a:pPr>
            <a:r>
              <a:rPr sz="1275" b="1">
                <a:solidFill>
                  <a:srgbClr val="101014"/>
                </a:solidFill>
              </a:rPr>
              <a:t>Versioned Zod contracts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3A5EF16-5C56-4162-B577-4F630A14093E}"/>
              </a:ext>
            </a:extLst>
          </p:cNvPr>
          <p:cNvSpPr>
            <a:spLocks noGrp="1"/>
          </p:cNvSpPr>
          <p:nvPr/>
        </p:nvSpPr>
        <p:spPr>
          <a:xfrm>
            <a:off x="2828925" y="3609975"/>
            <a:ext cx="3162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5D626D"/>
                </a:solidFill>
              </a:defRPr>
            </a:pPr>
            <a:r>
              <a:rPr sz="1050" b="0">
                <a:solidFill>
                  <a:srgbClr val="5D626D"/>
                </a:solidFill>
              </a:rPr>
              <a:t>Platform payloads and UI state stay outside neutral domain types.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E82CA8F-B8AB-447F-B526-B380F84CBB6B}"/>
              </a:ext>
            </a:extLst>
          </p:cNvPr>
          <p:cNvSpPr>
            <a:spLocks noGrp="1"/>
          </p:cNvSpPr>
          <p:nvPr/>
        </p:nvSpPr>
        <p:spPr>
          <a:xfrm>
            <a:off x="495300" y="4095750"/>
            <a:ext cx="539115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10FD292-4A78-4FF6-8638-BCF1AC35986B}"/>
              </a:ext>
            </a:extLst>
          </p:cNvPr>
          <p:cNvSpPr>
            <a:spLocks noGrp="1"/>
          </p:cNvSpPr>
          <p:nvPr/>
        </p:nvSpPr>
        <p:spPr>
          <a:xfrm>
            <a:off x="6153150" y="3609975"/>
            <a:ext cx="22098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294" lnSpcReduction="10000"/>
          </a:bodyPr>
          <a:lstStyle/>
          <a:p>
            <a:pPr algn="l">
              <a:defRPr sz="1275" b="1">
                <a:solidFill>
                  <a:srgbClr val="101014"/>
                </a:solidFill>
              </a:defRPr>
            </a:pPr>
            <a:r>
              <a:rPr sz="1275" b="1">
                <a:solidFill>
                  <a:srgbClr val="101014"/>
                </a:solidFill>
              </a:rPr>
              <a:t>Authoritative commands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1F44D7E-7317-4AE2-9A24-DC5F928F0B25}"/>
              </a:ext>
            </a:extLst>
          </p:cNvPr>
          <p:cNvSpPr>
            <a:spLocks noGrp="1"/>
          </p:cNvSpPr>
          <p:nvPr/>
        </p:nvSpPr>
        <p:spPr>
          <a:xfrm>
            <a:off x="8486775" y="3609975"/>
            <a:ext cx="3162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5D626D"/>
                </a:solidFill>
              </a:defRPr>
            </a:pPr>
            <a:r>
              <a:rPr sz="1050" b="0">
                <a:solidFill>
                  <a:srgbClr val="5D626D"/>
                </a:solidFill>
              </a:rPr>
              <a:t>Command IDs, permissions, expected revisions, idempotency, typed errors.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441F2A8-6E74-4CA9-96E8-AFD1FC9DE813}"/>
              </a:ext>
            </a:extLst>
          </p:cNvPr>
          <p:cNvSpPr>
            <a:spLocks noGrp="1"/>
          </p:cNvSpPr>
          <p:nvPr/>
        </p:nvSpPr>
        <p:spPr>
          <a:xfrm>
            <a:off x="6153150" y="4095750"/>
            <a:ext cx="539115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B56F1A-2B58-4C69-80CB-1961C2CD5A98}"/>
              </a:ext>
            </a:extLst>
          </p:cNvPr>
          <p:cNvSpPr>
            <a:spLocks noGrp="1"/>
          </p:cNvSpPr>
          <p:nvPr/>
        </p:nvSpPr>
        <p:spPr>
          <a:xfrm>
            <a:off x="495300" y="4276725"/>
            <a:ext cx="22098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294" lnSpcReduction="10000"/>
          </a:bodyPr>
          <a:lstStyle/>
          <a:p>
            <a:pPr algn="l">
              <a:defRPr sz="1275" b="1">
                <a:solidFill>
                  <a:srgbClr val="101014"/>
                </a:solidFill>
              </a:defRPr>
            </a:pPr>
            <a:r>
              <a:rPr sz="1275" b="1">
                <a:solidFill>
                  <a:srgbClr val="101014"/>
                </a:solidFill>
              </a:rPr>
              <a:t>Consistent realtime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41141EA-93F2-4041-95E9-30F6E5F12ACC}"/>
              </a:ext>
            </a:extLst>
          </p:cNvPr>
          <p:cNvSpPr>
            <a:spLocks noGrp="1"/>
          </p:cNvSpPr>
          <p:nvPr/>
        </p:nvSpPr>
        <p:spPr>
          <a:xfrm>
            <a:off x="2828925" y="4276725"/>
            <a:ext cx="3162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5D626D"/>
                </a:solidFill>
              </a:defRPr>
            </a:pPr>
            <a:r>
              <a:rPr sz="1050" b="0">
                <a:solidFill>
                  <a:srgbClr val="5D626D"/>
                </a:solidFill>
              </a:rPr>
              <a:t>Server timestamps, atomic persistence before broadcast, reconnect snapshots.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069820-46CC-4689-B2AC-EAAD1F4658E4}"/>
              </a:ext>
            </a:extLst>
          </p:cNvPr>
          <p:cNvSpPr>
            <a:spLocks noGrp="1"/>
          </p:cNvSpPr>
          <p:nvPr/>
        </p:nvSpPr>
        <p:spPr>
          <a:xfrm>
            <a:off x="495300" y="4762500"/>
            <a:ext cx="539115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45FFB0C-AE8F-404A-862C-54E07098C057}"/>
              </a:ext>
            </a:extLst>
          </p:cNvPr>
          <p:cNvSpPr>
            <a:spLocks noGrp="1"/>
          </p:cNvSpPr>
          <p:nvPr/>
        </p:nvSpPr>
        <p:spPr>
          <a:xfrm>
            <a:off x="6153150" y="4276725"/>
            <a:ext cx="22098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294" lnSpcReduction="10000"/>
          </a:bodyPr>
          <a:lstStyle/>
          <a:p>
            <a:pPr algn="l">
              <a:defRPr sz="1275" b="1">
                <a:solidFill>
                  <a:srgbClr val="101014"/>
                </a:solidFill>
              </a:defRPr>
            </a:pPr>
            <a:r>
              <a:rPr sz="1275" b="1">
                <a:solidFill>
                  <a:srgbClr val="101014"/>
                </a:solidFill>
              </a:rPr>
              <a:t>Least privilege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7D73C8B-ACD8-4628-848C-DFB4FAD9ABDF}"/>
              </a:ext>
            </a:extLst>
          </p:cNvPr>
          <p:cNvSpPr>
            <a:spLocks noGrp="1"/>
          </p:cNvSpPr>
          <p:nvPr/>
        </p:nvSpPr>
        <p:spPr>
          <a:xfrm>
            <a:off x="8486775" y="4276725"/>
            <a:ext cx="3162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5D626D"/>
                </a:solidFill>
              </a:defRPr>
            </a:pPr>
            <a:r>
              <a:rPr sz="1050" b="0">
                <a:solidFill>
                  <a:srgbClr val="5D626D"/>
                </a:solidFill>
              </a:rPr>
              <a:t>Role-sanitised views, server-only secrets, read-only OBS output.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595F5AD-AB97-452A-9F45-37EDB4F34A9B}"/>
              </a:ext>
            </a:extLst>
          </p:cNvPr>
          <p:cNvSpPr>
            <a:spLocks noGrp="1"/>
          </p:cNvSpPr>
          <p:nvPr/>
        </p:nvSpPr>
        <p:spPr>
          <a:xfrm>
            <a:off x="6153150" y="4762500"/>
            <a:ext cx="539115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E3937C-1C58-4828-9EE6-D7EBB017D3AB}"/>
              </a:ext>
            </a:extLst>
          </p:cNvPr>
          <p:cNvSpPr>
            <a:spLocks noGrp="1"/>
          </p:cNvSpPr>
          <p:nvPr/>
        </p:nvSpPr>
        <p:spPr>
          <a:xfrm>
            <a:off x="495300" y="4943475"/>
            <a:ext cx="22098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294" lnSpcReduction="10000"/>
          </a:bodyPr>
          <a:lstStyle/>
          <a:p>
            <a:pPr algn="l">
              <a:defRPr sz="1275" b="1">
                <a:solidFill>
                  <a:srgbClr val="101014"/>
                </a:solidFill>
              </a:defRPr>
            </a:pPr>
            <a:r>
              <a:rPr sz="1275" b="1">
                <a:solidFill>
                  <a:srgbClr val="101014"/>
                </a:solidFill>
              </a:rPr>
              <a:t>Integration evidence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DAC8F1B-2549-4F0A-893F-0A0538CF5237}"/>
              </a:ext>
            </a:extLst>
          </p:cNvPr>
          <p:cNvSpPr>
            <a:spLocks noGrp="1"/>
          </p:cNvSpPr>
          <p:nvPr/>
        </p:nvSpPr>
        <p:spPr>
          <a:xfrm>
            <a:off x="2828925" y="4943475"/>
            <a:ext cx="3162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5D626D"/>
                </a:solidFill>
              </a:defRPr>
            </a:pPr>
            <a:r>
              <a:rPr sz="1050" b="0">
                <a:solidFill>
                  <a:srgbClr val="5D626D"/>
                </a:solidFill>
              </a:rPr>
              <a:t>Producer/consumer contract tests and explicit fixture/live labels.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8D46047-EFDC-41E6-8E1B-C1D21AC09960}"/>
              </a:ext>
            </a:extLst>
          </p:cNvPr>
          <p:cNvSpPr>
            <a:spLocks noGrp="1"/>
          </p:cNvSpPr>
          <p:nvPr/>
        </p:nvSpPr>
        <p:spPr>
          <a:xfrm>
            <a:off x="495300" y="5429250"/>
            <a:ext cx="539115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53" name="slide-14-evidence">
            <a:extLst>
              <a:ext uri="{FF2B5EF4-FFF2-40B4-BE49-F238E27FC236}">
                <a16:creationId xmlns:a16="http://schemas.microsoft.com/office/drawing/2014/main" id="{1EB18573-F0A8-4D1B-8558-4CA5F906247C}"/>
              </a:ext>
            </a:extLst>
          </p:cNvPr>
          <p:cNvSpPr>
            <a:spLocks noGrp="1"/>
          </p:cNvSpPr>
          <p:nvPr/>
        </p:nvSpPr>
        <p:spPr>
          <a:xfrm>
            <a:off x="495300" y="6029325"/>
            <a:ext cx="1057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825" b="0">
                <a:solidFill>
                  <a:srgbClr val="5D626D"/>
                </a:solidFill>
              </a:defRPr>
            </a:pPr>
            <a:r>
              <a:rPr sz="825" b="0">
                <a:solidFill>
                  <a:srgbClr val="5D626D"/>
                </a:solidFill>
              </a:rPr>
              <a:t>Evidence posture: automated checks prove contracts; real Twitch/OBS is required for live golden-workflow claims.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ABF97C4-68C8-40F0-9ED5-6B0B8F6DC58C}"/>
              </a:ext>
            </a:extLst>
          </p:cNvPr>
          <p:cNvSpPr>
            <a:spLocks noGrp="1"/>
          </p:cNvSpPr>
          <p:nvPr/>
        </p:nvSpPr>
        <p:spPr>
          <a:xfrm>
            <a:off x="495300" y="6343650"/>
            <a:ext cx="11201400" cy="9525"/>
          </a:xfrm>
          <a:prstGeom prst="rect">
            <a:avLst/>
          </a:prstGeom>
          <a:solidFill>
            <a:srgbClr val="D8DBE2"/>
          </a:solidFill>
          <a:ln w="0">
            <a:noFill/>
            <a:prstDash val="solid"/>
          </a:ln>
        </p:spPr>
      </p:sp>
      <p:sp>
        <p:nvSpPr>
          <p:cNvPr id="55" name="slide-14-repo">
            <a:extLst>
              <a:ext uri="{FF2B5EF4-FFF2-40B4-BE49-F238E27FC236}">
                <a16:creationId xmlns:a16="http://schemas.microsoft.com/office/drawing/2014/main" id="{79E13A25-92F7-4020-9998-2C5DF25920F7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l">
              <a:defRPr sz="750" b="0">
                <a:solidFill>
                  <a:srgbClr val="5D626D"/>
                </a:solidFill>
              </a:defRPr>
            </a:pPr>
            <a:r>
              <a:rPr sz="750" b="0">
                <a:solidFill>
                  <a:srgbClr val="5D626D"/>
                </a:solidFill>
              </a:rPr>
              <a:t>REPO LENS  docs/ARCHITECTURE.md  |  docs/build-plans/INTEGRATION-CONTRACT.md  |  tests/integration/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07721D7-E521-40FA-99F5-AD2711EBEFF9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r">
              <a:defRPr sz="750" b="1">
                <a:solidFill>
                  <a:srgbClr val="5D626D"/>
                </a:solidFill>
              </a:defRPr>
            </a:pPr>
            <a:r>
              <a:rPr sz="750" b="1">
                <a:solidFill>
                  <a:srgbClr val="5D626D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63262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15-title">
            <a:extLst>
              <a:ext uri="{FF2B5EF4-FFF2-40B4-BE49-F238E27FC236}">
                <a16:creationId xmlns:a16="http://schemas.microsoft.com/office/drawing/2014/main" id="{733780ED-CD1E-4BE5-876C-9EF6EC7E3509}"/>
              </a:ext>
            </a:extLst>
          </p:cNvPr>
          <p:cNvSpPr>
            <a:spLocks noGrp="1"/>
          </p:cNvSpPr>
          <p:nvPr/>
        </p:nvSpPr>
        <p:spPr>
          <a:xfrm>
            <a:off x="495300" y="381000"/>
            <a:ext cx="9334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863"/>
          </a:bodyPr>
          <a:lstStyle/>
          <a:p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Future work: carry the stream director beyond one Twitch MVP</a:t>
            </a:r>
          </a:p>
        </p:txBody>
      </p:sp>
      <p:sp>
        <p:nvSpPr>
          <p:cNvPr id="2" name="slide-15-section">
            <a:extLst>
              <a:ext uri="{FF2B5EF4-FFF2-40B4-BE49-F238E27FC236}">
                <a16:creationId xmlns:a16="http://schemas.microsoft.com/office/drawing/2014/main" id="{629F96DA-06F4-47EA-B75A-F6069C039037}"/>
              </a:ext>
            </a:extLst>
          </p:cNvPr>
          <p:cNvSpPr>
            <a:spLocks noGrp="1"/>
          </p:cNvSpPr>
          <p:nvPr/>
        </p:nvSpPr>
        <p:spPr>
          <a:xfrm>
            <a:off x="10191750" y="447675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75" b="1">
                <a:solidFill>
                  <a:srgbClr val="C9F53B"/>
                </a:solidFill>
              </a:defRPr>
            </a:pPr>
            <a:r>
              <a:rPr sz="975" b="1">
                <a:solidFill>
                  <a:srgbClr val="C9F53B"/>
                </a:solidFill>
              </a:rPr>
              <a:t>FUTURE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28C168-A1CB-4475-962B-7DF9E27F6D16}"/>
              </a:ext>
            </a:extLst>
          </p:cNvPr>
          <p:cNvSpPr>
            <a:spLocks noGrp="1"/>
          </p:cNvSpPr>
          <p:nvPr/>
        </p:nvSpPr>
        <p:spPr>
          <a:xfrm>
            <a:off x="495300" y="13239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C9F53B"/>
                </a:solidFill>
              </a:defRPr>
            </a:pPr>
            <a:r>
              <a:rPr sz="900" b="1">
                <a:solidFill>
                  <a:srgbClr val="C9F53B"/>
                </a:solidFill>
              </a:rPr>
              <a:t>PROFILES + MEMORY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EE8F87-EE38-4694-B4F8-D98F8A0ECCD6}"/>
              </a:ext>
            </a:extLst>
          </p:cNvPr>
          <p:cNvSpPr>
            <a:spLocks noGrp="1"/>
          </p:cNvSpPr>
          <p:nvPr/>
        </p:nvSpPr>
        <p:spPr>
          <a:xfrm>
            <a:off x="495300" y="1685925"/>
            <a:ext cx="32861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759"/>
          </a:bodyPr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Persistent streamer personalities, boundaries, game preferences, cross-stream memory, and privacy-safe viewer profiles.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B99935-36D2-4FBA-AFCB-4D221B123219}"/>
              </a:ext>
            </a:extLst>
          </p:cNvPr>
          <p:cNvSpPr>
            <a:spLocks noGrp="1"/>
          </p:cNvSpPr>
          <p:nvPr/>
        </p:nvSpPr>
        <p:spPr>
          <a:xfrm>
            <a:off x="4438650" y="13239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34BDEB"/>
                </a:solidFill>
              </a:defRPr>
            </a:pPr>
            <a:r>
              <a:rPr sz="900" b="1">
                <a:solidFill>
                  <a:srgbClr val="34BDEB"/>
                </a:solidFill>
              </a:rPr>
              <a:t>ANALYTICS + ADAPTATION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7BE3BE-D884-41C9-B1BD-0D2FE3E94453}"/>
              </a:ext>
            </a:extLst>
          </p:cNvPr>
          <p:cNvSpPr>
            <a:spLocks noGrp="1"/>
          </p:cNvSpPr>
          <p:nvPr/>
        </p:nvSpPr>
        <p:spPr>
          <a:xfrm>
            <a:off x="4438650" y="1685925"/>
            <a:ext cx="32861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855"/>
          </a:bodyPr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Quest timing, vetoes, completions, audience response, engagement experiments, adaptive styles, and highlight prompts.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143A34-88BD-4CA8-A705-C340CD2045DA}"/>
              </a:ext>
            </a:extLst>
          </p:cNvPr>
          <p:cNvSpPr>
            <a:spLocks noGrp="1"/>
          </p:cNvSpPr>
          <p:nvPr/>
        </p:nvSpPr>
        <p:spPr>
          <a:xfrm>
            <a:off x="8382000" y="13239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F45B7A"/>
                </a:solidFill>
              </a:defRPr>
            </a:pPr>
            <a:r>
              <a:rPr sz="900" b="1">
                <a:solidFill>
                  <a:srgbClr val="F45B7A"/>
                </a:solidFill>
              </a:rPr>
              <a:t>GAMES + PLATFORMS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FF7A2F-E950-483A-90F7-BC72A4618FF4}"/>
              </a:ext>
            </a:extLst>
          </p:cNvPr>
          <p:cNvSpPr>
            <a:spLocks noGrp="1"/>
          </p:cNvSpPr>
          <p:nvPr/>
        </p:nvSpPr>
        <p:spPr>
          <a:xfrm>
            <a:off x="8382000" y="1685925"/>
            <a:ext cx="33147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88"/>
          </a:bodyPr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Calibration packs, official telemetry, evaluated AI providers, and adapters for YouTube, Discord, TikTok Live, Kick, and future APIs.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DFFE00-18D0-4F8E-8D36-210608BC6461}"/>
              </a:ext>
            </a:extLst>
          </p:cNvPr>
          <p:cNvSpPr>
            <a:spLocks noGrp="1"/>
          </p:cNvSpPr>
          <p:nvPr/>
        </p:nvSpPr>
        <p:spPr>
          <a:xfrm>
            <a:off x="495300" y="3238500"/>
            <a:ext cx="11201400" cy="9525"/>
          </a:xfrm>
          <a:prstGeom prst="rect">
            <a:avLst/>
          </a:prstGeom>
          <a:solidFill>
            <a:srgbClr val="3A3541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E20207-B8A9-4AF6-832E-9D5244FAD4D5}"/>
              </a:ext>
            </a:extLst>
          </p:cNvPr>
          <p:cNvSpPr>
            <a:spLocks noGrp="1"/>
          </p:cNvSpPr>
          <p:nvPr/>
        </p:nvSpPr>
        <p:spPr>
          <a:xfrm>
            <a:off x="495300" y="35814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C9F53B"/>
                </a:solidFill>
              </a:defRPr>
            </a:pPr>
            <a:r>
              <a:rPr sz="900" b="1">
                <a:solidFill>
                  <a:srgbClr val="C9F53B"/>
                </a:solidFill>
              </a:rPr>
              <a:t>NEXT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BB08A1-3507-4D8D-8282-ED5F55EBF273}"/>
              </a:ext>
            </a:extLst>
          </p:cNvPr>
          <p:cNvSpPr>
            <a:spLocks noGrp="1"/>
          </p:cNvSpPr>
          <p:nvPr/>
        </p:nvSpPr>
        <p:spPr>
          <a:xfrm>
            <a:off x="495300" y="3914775"/>
            <a:ext cx="31432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19"/>
          </a:bodyPr>
          <a:lstStyle/>
          <a:p>
            <a:pPr algn="l">
              <a:defRPr sz="1350" b="0">
                <a:solidFill>
                  <a:srgbClr val="D4D0DB"/>
                </a:solidFill>
              </a:defRPr>
            </a:pPr>
            <a:r>
              <a:rPr sz="1350" b="0">
                <a:solidFill>
                  <a:srgbClr val="D4D0DB"/>
                </a:solidFill>
              </a:rPr>
              <a:t>Prove persistent profiles and engagement analytics on the Twitch workflow.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E3E834-EE86-4D01-A71C-819A81CC7A73}"/>
              </a:ext>
            </a:extLst>
          </p:cNvPr>
          <p:cNvSpPr>
            <a:spLocks noGrp="1"/>
          </p:cNvSpPr>
          <p:nvPr/>
        </p:nvSpPr>
        <p:spPr>
          <a:xfrm>
            <a:off x="4438650" y="35814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34BDEB"/>
                </a:solidFill>
              </a:defRPr>
            </a:pPr>
            <a:r>
              <a:rPr sz="900" b="1">
                <a:solidFill>
                  <a:srgbClr val="34BDEB"/>
                </a:solidFill>
              </a:rPr>
              <a:t>SCALE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0EA90D-F801-4C4F-9BC1-1A43C58452E9}"/>
              </a:ext>
            </a:extLst>
          </p:cNvPr>
          <p:cNvSpPr>
            <a:spLocks noGrp="1"/>
          </p:cNvSpPr>
          <p:nvPr/>
        </p:nvSpPr>
        <p:spPr>
          <a:xfrm>
            <a:off x="4438650" y="3914775"/>
            <a:ext cx="31432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36"/>
          </a:bodyPr>
          <a:lstStyle/>
          <a:p>
            <a:pPr algn="l">
              <a:defRPr sz="1350" b="0">
                <a:solidFill>
                  <a:srgbClr val="D4D0DB"/>
                </a:solidFill>
              </a:defRPr>
            </a:pPr>
            <a:r>
              <a:rPr sz="1350" b="0">
                <a:solidFill>
                  <a:srgbClr val="D4D0DB"/>
                </a:solidFill>
              </a:rPr>
              <a:t>Deepen game understanding and evaluate server-side AI against a recorded rubric.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DC5C8C-3BC4-4082-B080-FF2E81B8EC08}"/>
              </a:ext>
            </a:extLst>
          </p:cNvPr>
          <p:cNvSpPr>
            <a:spLocks noGrp="1"/>
          </p:cNvSpPr>
          <p:nvPr/>
        </p:nvSpPr>
        <p:spPr>
          <a:xfrm>
            <a:off x="8382000" y="35814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F45B7A"/>
                </a:solidFill>
              </a:defRPr>
            </a:pPr>
            <a:r>
              <a:rPr sz="900" b="1">
                <a:solidFill>
                  <a:srgbClr val="F45B7A"/>
                </a:solidFill>
              </a:rPr>
              <a:t>EXPAND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41502B-A8FA-44B6-B5DD-FF69A4F887FB}"/>
              </a:ext>
            </a:extLst>
          </p:cNvPr>
          <p:cNvSpPr>
            <a:spLocks noGrp="1"/>
          </p:cNvSpPr>
          <p:nvPr/>
        </p:nvSpPr>
        <p:spPr>
          <a:xfrm>
            <a:off x="8382000" y="3914775"/>
            <a:ext cx="31432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D4D0DB"/>
                </a:solidFill>
              </a:defRPr>
            </a:pPr>
            <a:r>
              <a:rPr sz="1350" b="0">
                <a:solidFill>
                  <a:srgbClr val="D4D0DB"/>
                </a:solidFill>
              </a:rPr>
              <a:t>Add platform adapters only after the complete Twitch path is proven.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10399AD-21FB-4296-92F2-8A61ECB3FDE5}"/>
              </a:ext>
            </a:extLst>
          </p:cNvPr>
          <p:cNvSpPr>
            <a:spLocks noGrp="1"/>
          </p:cNvSpPr>
          <p:nvPr/>
        </p:nvSpPr>
        <p:spPr>
          <a:xfrm>
            <a:off x="495300" y="5029200"/>
            <a:ext cx="112014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0E9E5F-ADE9-4B67-AE7F-52D2E933365E}"/>
              </a:ext>
            </a:extLst>
          </p:cNvPr>
          <p:cNvSpPr>
            <a:spLocks noGrp="1"/>
          </p:cNvSpPr>
          <p:nvPr/>
        </p:nvSpPr>
        <p:spPr>
          <a:xfrm>
            <a:off x="742950" y="5238750"/>
            <a:ext cx="10706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674"/>
          </a:bodyPr>
          <a:lstStyle/>
          <a:p>
            <a:pPr algn="ctr">
              <a:defRPr sz="1575" b="1">
                <a:solidFill>
                  <a:srgbClr val="101014"/>
                </a:solidFill>
              </a:defRPr>
            </a:pPr>
            <a:r>
              <a:rPr sz="1575" b="1">
                <a:solidFill>
                  <a:srgbClr val="101014"/>
                </a:solidFill>
              </a:rPr>
              <a:t>Prove the interaction on Twitch. Carry the intelligence, safety, and participation engine everywhere streams already happen.</a:t>
            </a:r>
          </a:p>
        </p:txBody>
      </p:sp>
      <p:sp>
        <p:nvSpPr>
          <p:cNvPr id="18" name="slide-15-evidence">
            <a:extLst>
              <a:ext uri="{FF2B5EF4-FFF2-40B4-BE49-F238E27FC236}">
                <a16:creationId xmlns:a16="http://schemas.microsoft.com/office/drawing/2014/main" id="{F46ABD90-3DEE-463C-A5DF-6D1F4C64A42A}"/>
              </a:ext>
            </a:extLst>
          </p:cNvPr>
          <p:cNvSpPr>
            <a:spLocks noGrp="1"/>
          </p:cNvSpPr>
          <p:nvPr/>
        </p:nvSpPr>
        <p:spPr>
          <a:xfrm>
            <a:off x="495300" y="6029325"/>
            <a:ext cx="1057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825" b="0">
                <a:solidFill>
                  <a:srgbClr val="A9A6B2"/>
                </a:solidFill>
              </a:defRPr>
            </a:pPr>
            <a:r>
              <a:rPr sz="825" b="0">
                <a:solidFill>
                  <a:srgbClr val="A9A6B2"/>
                </a:solidFill>
              </a:rPr>
              <a:t>Roadmap only: non-Twitch adapters, richer analytics, profiles, telemetry, and external AI remain future work.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519D5D-5B83-4129-9B9B-3ACB2BDF2666}"/>
              </a:ext>
            </a:extLst>
          </p:cNvPr>
          <p:cNvSpPr>
            <a:spLocks noGrp="1"/>
          </p:cNvSpPr>
          <p:nvPr/>
        </p:nvSpPr>
        <p:spPr>
          <a:xfrm>
            <a:off x="495300" y="6343650"/>
            <a:ext cx="11201400" cy="9525"/>
          </a:xfrm>
          <a:prstGeom prst="rect">
            <a:avLst/>
          </a:prstGeom>
          <a:solidFill>
            <a:srgbClr val="35313C"/>
          </a:solidFill>
          <a:ln w="0">
            <a:noFill/>
            <a:prstDash val="solid"/>
          </a:ln>
        </p:spPr>
      </p:sp>
      <p:sp>
        <p:nvSpPr>
          <p:cNvPr id="20" name="slide-15-repo">
            <a:extLst>
              <a:ext uri="{FF2B5EF4-FFF2-40B4-BE49-F238E27FC236}">
                <a16:creationId xmlns:a16="http://schemas.microsoft.com/office/drawing/2014/main" id="{48CCA36C-F127-44BD-9FA5-84E53F356047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l">
              <a:defRPr sz="750" b="0">
                <a:solidFill>
                  <a:srgbClr val="A9A6B2"/>
                </a:solidFill>
              </a:defRPr>
            </a:pPr>
            <a:r>
              <a:rPr sz="750" b="0">
                <a:solidFill>
                  <a:srgbClr val="A9A6B2"/>
                </a:solidFill>
              </a:rPr>
              <a:t>REPO LENS  src/integrations/  |  src/core/  |  docs/ARCHITECTURE.md  |  docs/DECISIONS.md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BEEF29-346A-47BD-BF36-DB1A0E0D866A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667" lnSpcReduction="10000"/>
          </a:bodyPr>
          <a:lstStyle/>
          <a:p>
            <a:pPr algn="r">
              <a:defRPr sz="750" b="1">
                <a:solidFill>
                  <a:srgbClr val="A9A6B2"/>
                </a:solidFill>
              </a:defRPr>
            </a:pPr>
            <a:r>
              <a:rPr sz="750" b="1">
                <a:solidFill>
                  <a:srgbClr val="A9A6B2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1174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3123</Words>
  <Application>Microsoft Macintosh PowerPoint</Application>
  <DocSecurity>0</DocSecurity>
  <PresentationFormat>Widescreen</PresentationFormat>
  <Paragraphs>410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Yong Chen Jun, Kevin</cp:lastModifiedBy>
  <cp:revision>1</cp:revision>
  <dcterms:created xsi:type="dcterms:W3CDTF">2026-08-09T13:16:22Z</dcterms:created>
  <dcterms:modified xsi:type="dcterms:W3CDTF">2026-08-09T15:32:56Z</dcterms:modified>
</cp:coreProperties>
</file>